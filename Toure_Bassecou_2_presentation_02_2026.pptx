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7" r:id="rId3"/>
    <p:sldId id="257" r:id="rId4"/>
    <p:sldId id="278" r:id="rId5"/>
    <p:sldId id="275" r:id="rId6"/>
    <p:sldId id="259" r:id="rId7"/>
    <p:sldId id="276" r:id="rId8"/>
    <p:sldId id="260" r:id="rId9"/>
    <p:sldId id="267" r:id="rId10"/>
    <p:sldId id="271" r:id="rId11"/>
    <p:sldId id="270" r:id="rId12"/>
    <p:sldId id="268" r:id="rId13"/>
    <p:sldId id="261" r:id="rId14"/>
    <p:sldId id="273" r:id="rId15"/>
    <p:sldId id="279" r:id="rId1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8"/>
    </p:embeddedFont>
    <p:embeddedFont>
      <p:font typeface="Calistoga" panose="020B0604020202020204" charset="0"/>
      <p:regular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Work Sans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40"/>
    <a:srgbClr val="1C7293"/>
    <a:srgbClr val="A9C9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930" y="677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secou toure" userId="5ad6467d9822fd83" providerId="LiveId" clId="{DFC0FD60-53AA-429B-91C8-1758658F9C58}"/>
    <pc:docChg chg="modSld">
      <pc:chgData name="bassecou toure" userId="5ad6467d9822fd83" providerId="LiveId" clId="{DFC0FD60-53AA-429B-91C8-1758658F9C58}" dt="2026-02-05T10:16:25.458" v="5" actId="2711"/>
      <pc:docMkLst>
        <pc:docMk/>
      </pc:docMkLst>
      <pc:sldChg chg="modSp mod">
        <pc:chgData name="bassecou toure" userId="5ad6467d9822fd83" providerId="LiveId" clId="{DFC0FD60-53AA-429B-91C8-1758658F9C58}" dt="2026-02-05T10:16:25.458" v="5" actId="2711"/>
        <pc:sldMkLst>
          <pc:docMk/>
          <pc:sldMk cId="0" sldId="260"/>
        </pc:sldMkLst>
        <pc:spChg chg="mod">
          <ac:chgData name="bassecou toure" userId="5ad6467d9822fd83" providerId="LiveId" clId="{DFC0FD60-53AA-429B-91C8-1758658F9C58}" dt="2026-02-05T10:15:59.058" v="2" actId="2711"/>
          <ac:spMkLst>
            <pc:docMk/>
            <pc:sldMk cId="0" sldId="260"/>
            <ac:spMk id="4" creationId="{FF8209C0-A5C4-A49F-A55B-A306AF3D146A}"/>
          </ac:spMkLst>
        </pc:spChg>
        <pc:spChg chg="mod">
          <ac:chgData name="bassecou toure" userId="5ad6467d9822fd83" providerId="LiveId" clId="{DFC0FD60-53AA-429B-91C8-1758658F9C58}" dt="2026-02-05T10:16:19.891" v="4" actId="2711"/>
          <ac:spMkLst>
            <pc:docMk/>
            <pc:sldMk cId="0" sldId="260"/>
            <ac:spMk id="5" creationId="{578FCCE5-0A19-7788-545E-D3E20F6A27E0}"/>
          </ac:spMkLst>
        </pc:spChg>
        <pc:spChg chg="mod">
          <ac:chgData name="bassecou toure" userId="5ad6467d9822fd83" providerId="LiveId" clId="{DFC0FD60-53AA-429B-91C8-1758658F9C58}" dt="2026-02-05T10:16:09.068" v="3" actId="2711"/>
          <ac:spMkLst>
            <pc:docMk/>
            <pc:sldMk cId="0" sldId="260"/>
            <ac:spMk id="6" creationId="{5026D735-D48A-3D62-7AA1-7B08F209A973}"/>
          </ac:spMkLst>
        </pc:spChg>
        <pc:spChg chg="mod">
          <ac:chgData name="bassecou toure" userId="5ad6467d9822fd83" providerId="LiveId" clId="{DFC0FD60-53AA-429B-91C8-1758658F9C58}" dt="2026-02-05T10:16:25.458" v="5" actId="2711"/>
          <ac:spMkLst>
            <pc:docMk/>
            <pc:sldMk cId="0" sldId="260"/>
            <ac:spMk id="7" creationId="{26F9EB24-4798-70B3-55D9-AD868B8F94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75E9D7B-66A7-88C3-AD5A-7C1F5DAE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BD377BC9-74F2-D8B1-3CED-85DED487A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AD41659C-CC4E-17CF-5915-21AB8E7896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505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0ED7E09C-2D6D-3EAC-709B-47D30F6B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E45EF78F-68B5-DE63-CC38-DFEA6C5DA9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85D5F066-88A4-5EEF-921A-CFABE2D827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4008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FC8727E3-ED98-9DB2-BDE9-C3A471D6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>
            <a:extLst>
              <a:ext uri="{FF2B5EF4-FFF2-40B4-BE49-F238E27FC236}">
                <a16:creationId xmlns:a16="http://schemas.microsoft.com/office/drawing/2014/main" id="{0EE05761-38A6-90E6-12A2-3BDBAEA1A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9" name="Google Shape;69;p5:notes">
            <a:extLst>
              <a:ext uri="{FF2B5EF4-FFF2-40B4-BE49-F238E27FC236}">
                <a16:creationId xmlns:a16="http://schemas.microsoft.com/office/drawing/2014/main" id="{5FF0F44F-FCC2-5976-7849-10CED2D32A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2382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4FEB1608-1C5E-1395-2D21-50DCF37F4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>
            <a:extLst>
              <a:ext uri="{FF2B5EF4-FFF2-40B4-BE49-F238E27FC236}">
                <a16:creationId xmlns:a16="http://schemas.microsoft.com/office/drawing/2014/main" id="{78AEA0B7-2494-81D5-EB60-190E5EFAC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9" name="Google Shape;69;p5:notes">
            <a:extLst>
              <a:ext uri="{FF2B5EF4-FFF2-40B4-BE49-F238E27FC236}">
                <a16:creationId xmlns:a16="http://schemas.microsoft.com/office/drawing/2014/main" id="{F33D716D-8113-15BA-CB9E-2514E01F26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093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832A2164-8D65-CA21-4657-836CC166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D96FD937-D513-93C1-4CEB-CCA00A553D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74BC9ECF-A39D-4668-D7F4-F8F83F88E0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8850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E8BAD3C1-F414-E112-F419-D06807B0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B6BD379D-A199-1910-5C8C-B4B053B2E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11C4321F-0D73-3DDB-FC81-7F856D62E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4488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BB669FEA-CD34-2428-A8F7-6DD1C870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F933F7B5-455B-1663-1C41-0C50B4A2D6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EA7FBD88-CDDD-D1C7-50D8-AFC29FAF5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2713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14E3FCBD-0A44-F264-5BFF-D5B5BFF90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EA9E59BD-D5A9-480B-C7F8-2C21813359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F59E78EA-3B1A-4CF1-99FC-D35C9988E2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2674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C905954F-2FAA-B03A-728A-E0F2D1D4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>
            <a:extLst>
              <a:ext uri="{FF2B5EF4-FFF2-40B4-BE49-F238E27FC236}">
                <a16:creationId xmlns:a16="http://schemas.microsoft.com/office/drawing/2014/main" id="{A4C3FFBA-1CC2-2B16-26E9-EBBAB7A5E6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7" name="Google Shape;77;p6:notes">
            <a:extLst>
              <a:ext uri="{FF2B5EF4-FFF2-40B4-BE49-F238E27FC236}">
                <a16:creationId xmlns:a16="http://schemas.microsoft.com/office/drawing/2014/main" id="{023B6289-8F69-47D3-9502-186192261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772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920E6AD-684F-BF91-0AEA-2D1107ECC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58AD0AA3-FC1F-3E1F-4414-603AAC9EF3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010911BB-F253-D7A3-3FCD-2E36D0F2AF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9303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80350" y="1342867"/>
            <a:ext cx="7983300" cy="1257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36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DES STOCKS ET VENTES</a:t>
            </a: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Toure Bassecou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buSzPct val="100000"/>
            </a:pPr>
            <a:r>
              <a:rPr lang="fr-FR" sz="2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</a:t>
            </a:r>
            <a:r>
              <a:rPr lang="fr-FR" sz="28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07 /02 /2026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6F74A9B-EF34-0F07-2663-AFE4CD0CCD20}"/>
              </a:ext>
            </a:extLst>
          </p:cNvPr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E-commerce Bottleneck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27AB663-D603-4495-28EB-7E2AC74D3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>
            <a:extLst>
              <a:ext uri="{FF2B5EF4-FFF2-40B4-BE49-F238E27FC236}">
                <a16:creationId xmlns:a16="http://schemas.microsoft.com/office/drawing/2014/main" id="{7083CC6B-A5BF-5B3F-D9E1-532E1579132A}"/>
              </a:ext>
            </a:extLst>
          </p:cNvPr>
          <p:cNvSpPr/>
          <p:nvPr/>
        </p:nvSpPr>
        <p:spPr>
          <a:xfrm>
            <a:off x="-29254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193;p33">
            <a:extLst>
              <a:ext uri="{FF2B5EF4-FFF2-40B4-BE49-F238E27FC236}">
                <a16:creationId xmlns:a16="http://schemas.microsoft.com/office/drawing/2014/main" id="{D723FCCE-8036-23E5-909F-006E313090BD}"/>
              </a:ext>
            </a:extLst>
          </p:cNvPr>
          <p:cNvSpPr txBox="1">
            <a:spLocks/>
          </p:cNvSpPr>
          <p:nvPr/>
        </p:nvSpPr>
        <p:spPr>
          <a:xfrm>
            <a:off x="746250" y="174277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ebas Neue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/>
                <a:sym typeface="Bebas Neue"/>
              </a:rPr>
              <a:t>Introduction</a:t>
            </a:r>
          </a:p>
        </p:txBody>
      </p:sp>
      <p:sp>
        <p:nvSpPr>
          <p:cNvPr id="69" name="Google Shape;194;p33">
            <a:extLst>
              <a:ext uri="{FF2B5EF4-FFF2-40B4-BE49-F238E27FC236}">
                <a16:creationId xmlns:a16="http://schemas.microsoft.com/office/drawing/2014/main" id="{265E9EF9-7088-0AB6-98B3-4095730193EC}"/>
              </a:ext>
            </a:extLst>
          </p:cNvPr>
          <p:cNvSpPr txBox="1">
            <a:spLocks/>
          </p:cNvSpPr>
          <p:nvPr/>
        </p:nvSpPr>
        <p:spPr>
          <a:xfrm>
            <a:off x="1276800" y="12258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ebas Neue"/>
              <a:buNone/>
              <a:tabLst/>
              <a:defRPr/>
            </a:pPr>
            <a:r>
              <a:rPr kumimoji="0" lang="en" sz="3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/>
                <a:sym typeface="Bebas Neue"/>
              </a:rPr>
              <a:t>01</a:t>
            </a:r>
          </a:p>
        </p:txBody>
      </p:sp>
      <p:sp>
        <p:nvSpPr>
          <p:cNvPr id="70" name="Google Shape;195;p33">
            <a:extLst>
              <a:ext uri="{FF2B5EF4-FFF2-40B4-BE49-F238E27FC236}">
                <a16:creationId xmlns:a16="http://schemas.microsoft.com/office/drawing/2014/main" id="{0B3832B1-C223-6812-6023-CEFA077B296D}"/>
              </a:ext>
            </a:extLst>
          </p:cNvPr>
          <p:cNvSpPr txBox="1">
            <a:spLocks/>
          </p:cNvSpPr>
          <p:nvPr/>
        </p:nvSpPr>
        <p:spPr>
          <a:xfrm>
            <a:off x="717550" y="2263310"/>
            <a:ext cx="2388900" cy="732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lvl="0" indent="0">
              <a:buClr>
                <a:srgbClr val="FFFFFF"/>
              </a:buClr>
              <a:defRPr/>
            </a:pPr>
            <a:r>
              <a:rPr lang="fr-FR" dirty="0"/>
              <a:t>Présentation du contexte du projet, des sources de données et de l'objectif de l'analyse.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/>
              <a:sym typeface="Work Sans"/>
            </a:endParaRPr>
          </a:p>
        </p:txBody>
      </p:sp>
      <p:sp>
        <p:nvSpPr>
          <p:cNvPr id="71" name="Google Shape;196;p33">
            <a:extLst>
              <a:ext uri="{FF2B5EF4-FFF2-40B4-BE49-F238E27FC236}">
                <a16:creationId xmlns:a16="http://schemas.microsoft.com/office/drawing/2014/main" id="{665EDEDC-AB64-8866-F81A-6B21B7CD7808}"/>
              </a:ext>
            </a:extLst>
          </p:cNvPr>
          <p:cNvSpPr txBox="1">
            <a:spLocks/>
          </p:cNvSpPr>
          <p:nvPr/>
        </p:nvSpPr>
        <p:spPr>
          <a:xfrm>
            <a:off x="3406250" y="1662970"/>
            <a:ext cx="3085990" cy="6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lvl="0" algn="l">
              <a:buClr>
                <a:srgbClr val="000000"/>
              </a:buClr>
              <a:buSzPts val="2500"/>
            </a:pPr>
            <a:r>
              <a:rPr lang="fr-FR" b="1" dirty="0">
                <a:solidFill>
                  <a:srgbClr val="F3F3F3"/>
                </a:solidFill>
                <a:latin typeface="Bebas Neue" panose="020B0606020202050201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-FR" b="1" dirty="0">
                <a:solidFill>
                  <a:srgbClr val="F3F3F3"/>
                </a:solidFill>
                <a:latin typeface="Bebas Neue" panose="020B0606020202050201" pitchFamily="34" charset="0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des Données </a:t>
            </a:r>
            <a:endParaRPr lang="fr-FR" b="1" dirty="0">
              <a:solidFill>
                <a:srgbClr val="F3F3F3"/>
              </a:solidFill>
              <a:latin typeface="Bebas Neue" panose="020B0606020202050201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197;p33">
            <a:extLst>
              <a:ext uri="{FF2B5EF4-FFF2-40B4-BE49-F238E27FC236}">
                <a16:creationId xmlns:a16="http://schemas.microsoft.com/office/drawing/2014/main" id="{E918AD1F-2212-D376-6A69-2D6F11207F45}"/>
              </a:ext>
            </a:extLst>
          </p:cNvPr>
          <p:cNvSpPr txBox="1">
            <a:spLocks/>
          </p:cNvSpPr>
          <p:nvPr/>
        </p:nvSpPr>
        <p:spPr>
          <a:xfrm>
            <a:off x="3936800" y="12258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ebas Neue"/>
              <a:buNone/>
              <a:tabLst/>
              <a:defRPr/>
            </a:pPr>
            <a:r>
              <a:rPr kumimoji="0" lang="en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/>
                <a:sym typeface="Bebas Neue"/>
              </a:rPr>
              <a:t>02</a:t>
            </a:r>
          </a:p>
        </p:txBody>
      </p:sp>
      <p:sp>
        <p:nvSpPr>
          <p:cNvPr id="73" name="Google Shape;198;p33">
            <a:extLst>
              <a:ext uri="{FF2B5EF4-FFF2-40B4-BE49-F238E27FC236}">
                <a16:creationId xmlns:a16="http://schemas.microsoft.com/office/drawing/2014/main" id="{A8B4DDA6-8320-14AE-AFDB-1F8093799958}"/>
              </a:ext>
            </a:extLst>
          </p:cNvPr>
          <p:cNvSpPr txBox="1">
            <a:spLocks/>
          </p:cNvSpPr>
          <p:nvPr/>
        </p:nvSpPr>
        <p:spPr>
          <a:xfrm>
            <a:off x="3377550" y="2263310"/>
            <a:ext cx="2388900" cy="78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lvl="0" indent="0">
              <a:buClr>
                <a:srgbClr val="FFFFFF"/>
              </a:buClr>
              <a:defRPr/>
            </a:pPr>
            <a:r>
              <a:rPr lang="fr-FR" dirty="0"/>
              <a:t>Audit initial de la qualité des données pour identifier les premiers leviers d'optimisation.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/>
              <a:sym typeface="Work Sans"/>
            </a:endParaRPr>
          </a:p>
        </p:txBody>
      </p:sp>
      <p:sp>
        <p:nvSpPr>
          <p:cNvPr id="74" name="Google Shape;199;p33">
            <a:extLst>
              <a:ext uri="{FF2B5EF4-FFF2-40B4-BE49-F238E27FC236}">
                <a16:creationId xmlns:a16="http://schemas.microsoft.com/office/drawing/2014/main" id="{5C306A28-E498-E959-3E4D-05FCD977F54F}"/>
              </a:ext>
            </a:extLst>
          </p:cNvPr>
          <p:cNvSpPr txBox="1">
            <a:spLocks/>
          </p:cNvSpPr>
          <p:nvPr/>
        </p:nvSpPr>
        <p:spPr>
          <a:xfrm>
            <a:off x="746250" y="3596000"/>
            <a:ext cx="308265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lvl="0" algn="l">
              <a:buClr>
                <a:srgbClr val="000000"/>
              </a:buClr>
              <a:buSzPts val="2500"/>
            </a:pPr>
            <a:r>
              <a:rPr lang="fr-FR" sz="2000" dirty="0">
                <a:solidFill>
                  <a:srgbClr val="F3F3F3"/>
                </a:solidFill>
                <a:latin typeface="Bebas Neue" panose="020B0606020202050201" pitchFamily="34" charset="0"/>
                <a:ea typeface="Montserrat"/>
                <a:cs typeface="Montserrat"/>
                <a:sym typeface="Montserrat"/>
              </a:rPr>
              <a:t>Analyses univariées du prix</a:t>
            </a:r>
          </a:p>
        </p:txBody>
      </p:sp>
      <p:sp>
        <p:nvSpPr>
          <p:cNvPr id="75" name="Google Shape;200;p33">
            <a:extLst>
              <a:ext uri="{FF2B5EF4-FFF2-40B4-BE49-F238E27FC236}">
                <a16:creationId xmlns:a16="http://schemas.microsoft.com/office/drawing/2014/main" id="{7E09D4E5-3478-F8D0-8EEC-F5DC095F078D}"/>
              </a:ext>
            </a:extLst>
          </p:cNvPr>
          <p:cNvSpPr txBox="1">
            <a:spLocks/>
          </p:cNvSpPr>
          <p:nvPr/>
        </p:nvSpPr>
        <p:spPr>
          <a:xfrm>
            <a:off x="1276800" y="3079025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ebas Neue"/>
              <a:buNone/>
              <a:tabLst/>
              <a:defRPr/>
            </a:pPr>
            <a:r>
              <a:rPr kumimoji="0" lang="en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/>
                <a:sym typeface="Bebas Neue"/>
              </a:rPr>
              <a:t>04</a:t>
            </a:r>
          </a:p>
        </p:txBody>
      </p:sp>
      <p:sp>
        <p:nvSpPr>
          <p:cNvPr id="76" name="Google Shape;201;p33">
            <a:extLst>
              <a:ext uri="{FF2B5EF4-FFF2-40B4-BE49-F238E27FC236}">
                <a16:creationId xmlns:a16="http://schemas.microsoft.com/office/drawing/2014/main" id="{EE75E491-7AE3-11AC-457B-5D27CFEEC6F0}"/>
              </a:ext>
            </a:extLst>
          </p:cNvPr>
          <p:cNvSpPr txBox="1">
            <a:spLocks/>
          </p:cNvSpPr>
          <p:nvPr/>
        </p:nvSpPr>
        <p:spPr>
          <a:xfrm>
            <a:off x="720000" y="4116535"/>
            <a:ext cx="2388900" cy="847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lvl="0" indent="0">
              <a:buClr>
                <a:srgbClr val="FFFFFF"/>
              </a:buClr>
              <a:defRPr/>
            </a:pPr>
            <a:r>
              <a:rPr lang="fr-FR" dirty="0"/>
              <a:t>Étude de la distribution des prix et détection statistique des valeurs atypiques (</a:t>
            </a:r>
            <a:r>
              <a:rPr lang="fr-FR" dirty="0" err="1"/>
              <a:t>Outliers</a:t>
            </a:r>
            <a:r>
              <a:rPr lang="fr-FR" dirty="0"/>
              <a:t>).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/>
              <a:sym typeface="Work Sans"/>
            </a:endParaRPr>
          </a:p>
        </p:txBody>
      </p:sp>
      <p:sp>
        <p:nvSpPr>
          <p:cNvPr id="77" name="Google Shape;202;p33">
            <a:extLst>
              <a:ext uri="{FF2B5EF4-FFF2-40B4-BE49-F238E27FC236}">
                <a16:creationId xmlns:a16="http://schemas.microsoft.com/office/drawing/2014/main" id="{D6056737-D4E4-116C-1963-A3032735E917}"/>
              </a:ext>
            </a:extLst>
          </p:cNvPr>
          <p:cNvSpPr txBox="1">
            <a:spLocks/>
          </p:cNvSpPr>
          <p:nvPr/>
        </p:nvSpPr>
        <p:spPr>
          <a:xfrm>
            <a:off x="3077751" y="3628217"/>
            <a:ext cx="331967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lvl="0">
              <a:buClr>
                <a:srgbClr val="FFFFFF"/>
              </a:buClr>
              <a:defRPr/>
            </a:pPr>
            <a:r>
              <a:rPr lang="fr-FR" dirty="0"/>
              <a:t>ERREURS DÉTECTÉES</a:t>
            </a:r>
            <a:endParaRPr kumimoji="0" lang="fr-FR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/>
              <a:sym typeface="Bebas Neue"/>
            </a:endParaRPr>
          </a:p>
        </p:txBody>
      </p:sp>
      <p:sp>
        <p:nvSpPr>
          <p:cNvPr id="78" name="Google Shape;203;p33">
            <a:extLst>
              <a:ext uri="{FF2B5EF4-FFF2-40B4-BE49-F238E27FC236}">
                <a16:creationId xmlns:a16="http://schemas.microsoft.com/office/drawing/2014/main" id="{494761E9-6BE6-1B5E-9426-E6224468667B}"/>
              </a:ext>
            </a:extLst>
          </p:cNvPr>
          <p:cNvSpPr txBox="1">
            <a:spLocks/>
          </p:cNvSpPr>
          <p:nvPr/>
        </p:nvSpPr>
        <p:spPr>
          <a:xfrm>
            <a:off x="3936800" y="3079025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ebas Neue"/>
              <a:buNone/>
              <a:tabLst/>
              <a:defRPr/>
            </a:pPr>
            <a:r>
              <a:rPr kumimoji="0" lang="en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/>
                <a:sym typeface="Bebas Neue"/>
              </a:rPr>
              <a:t>05</a:t>
            </a:r>
          </a:p>
        </p:txBody>
      </p:sp>
      <p:sp>
        <p:nvSpPr>
          <p:cNvPr id="79" name="Google Shape;204;p33">
            <a:extLst>
              <a:ext uri="{FF2B5EF4-FFF2-40B4-BE49-F238E27FC236}">
                <a16:creationId xmlns:a16="http://schemas.microsoft.com/office/drawing/2014/main" id="{F49ED720-6F2A-C034-ADCC-DD91D0E124EB}"/>
              </a:ext>
            </a:extLst>
          </p:cNvPr>
          <p:cNvSpPr txBox="1">
            <a:spLocks/>
          </p:cNvSpPr>
          <p:nvPr/>
        </p:nvSpPr>
        <p:spPr>
          <a:xfrm>
            <a:off x="3380000" y="4116536"/>
            <a:ext cx="2594810" cy="877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lvl="0" indent="0">
              <a:buClr>
                <a:srgbClr val="FFFFFF"/>
              </a:buClr>
              <a:defRPr/>
            </a:pPr>
            <a:r>
              <a:rPr lang="fr-FR" dirty="0"/>
              <a:t>Synthèse des anomalies détectées et méthodologie de nettoyage pour fiabiliser l'étude.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/>
              <a:sym typeface="Work Sans"/>
            </a:endParaRPr>
          </a:p>
        </p:txBody>
      </p:sp>
      <p:sp>
        <p:nvSpPr>
          <p:cNvPr id="80" name="Google Shape;205;p33">
            <a:extLst>
              <a:ext uri="{FF2B5EF4-FFF2-40B4-BE49-F238E27FC236}">
                <a16:creationId xmlns:a16="http://schemas.microsoft.com/office/drawing/2014/main" id="{5D764F19-3905-094A-A134-DFFFDA45F5AC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Bebas Neue"/>
              <a:buNone/>
              <a:tabLst/>
              <a:defRPr/>
            </a:pPr>
            <a:r>
              <a:rPr kumimoji="0" lang="fr-FR" sz="3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/>
                <a:sym typeface="Bebas Neue"/>
              </a:rPr>
              <a:t>table of contents</a:t>
            </a:r>
          </a:p>
        </p:txBody>
      </p:sp>
      <p:sp>
        <p:nvSpPr>
          <p:cNvPr id="81" name="Google Shape;206;p33">
            <a:extLst>
              <a:ext uri="{FF2B5EF4-FFF2-40B4-BE49-F238E27FC236}">
                <a16:creationId xmlns:a16="http://schemas.microsoft.com/office/drawing/2014/main" id="{74AB2303-2516-4615-7F17-F6461E7EB57C}"/>
              </a:ext>
            </a:extLst>
          </p:cNvPr>
          <p:cNvSpPr txBox="1">
            <a:spLocks/>
          </p:cNvSpPr>
          <p:nvPr/>
        </p:nvSpPr>
        <p:spPr>
          <a:xfrm>
            <a:off x="6066250" y="1742775"/>
            <a:ext cx="285423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ebas Neue"/>
              <a:buNone/>
              <a:tabLst/>
              <a:defRPr/>
            </a:pP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/>
                <a:sym typeface="Bebas Neue"/>
              </a:rPr>
              <a:t>Fusion ou consolidations</a:t>
            </a:r>
          </a:p>
        </p:txBody>
      </p:sp>
      <p:sp>
        <p:nvSpPr>
          <p:cNvPr id="82" name="Google Shape;207;p33">
            <a:extLst>
              <a:ext uri="{FF2B5EF4-FFF2-40B4-BE49-F238E27FC236}">
                <a16:creationId xmlns:a16="http://schemas.microsoft.com/office/drawing/2014/main" id="{2184A9C9-7AA3-5F0C-DFD7-C12F06EE62C4}"/>
              </a:ext>
            </a:extLst>
          </p:cNvPr>
          <p:cNvSpPr txBox="1">
            <a:spLocks/>
          </p:cNvSpPr>
          <p:nvPr/>
        </p:nvSpPr>
        <p:spPr>
          <a:xfrm>
            <a:off x="6596800" y="1225800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ebas Neue"/>
              <a:buNone/>
              <a:tabLst/>
              <a:defRPr/>
            </a:pPr>
            <a:r>
              <a:rPr kumimoji="0" lang="en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/>
                <a:sym typeface="Bebas Neue"/>
              </a:rPr>
              <a:t>03</a:t>
            </a:r>
          </a:p>
        </p:txBody>
      </p:sp>
      <p:sp>
        <p:nvSpPr>
          <p:cNvPr id="83" name="Google Shape;208;p33">
            <a:extLst>
              <a:ext uri="{FF2B5EF4-FFF2-40B4-BE49-F238E27FC236}">
                <a16:creationId xmlns:a16="http://schemas.microsoft.com/office/drawing/2014/main" id="{0DF5E245-1CAE-8D32-BBDE-DDC165F8CA3A}"/>
              </a:ext>
            </a:extLst>
          </p:cNvPr>
          <p:cNvSpPr txBox="1">
            <a:spLocks/>
          </p:cNvSpPr>
          <p:nvPr/>
        </p:nvSpPr>
        <p:spPr>
          <a:xfrm>
            <a:off x="6037550" y="2263311"/>
            <a:ext cx="2388900" cy="73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lvl="0" indent="0">
              <a:buClr>
                <a:srgbClr val="FFFFFF"/>
              </a:buClr>
              <a:defRPr/>
            </a:pPr>
            <a:r>
              <a:rPr lang="fr-FR" dirty="0"/>
              <a:t>Rapprochement des bases ERP et Web via une table de liaison pour une vision unifiée.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/>
              <a:sym typeface="Work Sans"/>
            </a:endParaRPr>
          </a:p>
        </p:txBody>
      </p:sp>
      <p:sp>
        <p:nvSpPr>
          <p:cNvPr id="84" name="Google Shape;209;p33">
            <a:extLst>
              <a:ext uri="{FF2B5EF4-FFF2-40B4-BE49-F238E27FC236}">
                <a16:creationId xmlns:a16="http://schemas.microsoft.com/office/drawing/2014/main" id="{C1071B84-3156-E789-C057-740890F16DC6}"/>
              </a:ext>
            </a:extLst>
          </p:cNvPr>
          <p:cNvSpPr txBox="1">
            <a:spLocks/>
          </p:cNvSpPr>
          <p:nvPr/>
        </p:nvSpPr>
        <p:spPr>
          <a:xfrm>
            <a:off x="6066250" y="3596000"/>
            <a:ext cx="298631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lvl="0" algn="l">
              <a:buClr>
                <a:srgbClr val="000000"/>
              </a:buClr>
              <a:buSzPts val="2500"/>
            </a:pPr>
            <a:r>
              <a:rPr lang="fr" dirty="0">
                <a:solidFill>
                  <a:srgbClr val="F3F3F3"/>
                </a:solidFill>
                <a:latin typeface="Bebas Neue" panose="020B0606020202050201" pitchFamily="34" charset="0"/>
                <a:ea typeface="Montserrat"/>
                <a:cs typeface="Montserrat"/>
                <a:sym typeface="Montserrat"/>
              </a:rPr>
              <a:t>Analyses complémentaires</a:t>
            </a:r>
          </a:p>
        </p:txBody>
      </p:sp>
      <p:sp>
        <p:nvSpPr>
          <p:cNvPr id="85" name="Google Shape;210;p33">
            <a:extLst>
              <a:ext uri="{FF2B5EF4-FFF2-40B4-BE49-F238E27FC236}">
                <a16:creationId xmlns:a16="http://schemas.microsoft.com/office/drawing/2014/main" id="{5B585AEE-6F57-6B20-26EB-49899213D1EA}"/>
              </a:ext>
            </a:extLst>
          </p:cNvPr>
          <p:cNvSpPr txBox="1">
            <a:spLocks/>
          </p:cNvSpPr>
          <p:nvPr/>
        </p:nvSpPr>
        <p:spPr>
          <a:xfrm>
            <a:off x="6596800" y="3079025"/>
            <a:ext cx="12753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Bebas Neue"/>
              <a:buNone/>
              <a:tabLst/>
              <a:defRPr/>
            </a:pPr>
            <a:r>
              <a:rPr kumimoji="0" lang="en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bas Neue"/>
                <a:sym typeface="Bebas Neue"/>
              </a:rPr>
              <a:t>06</a:t>
            </a:r>
          </a:p>
        </p:txBody>
      </p:sp>
      <p:sp>
        <p:nvSpPr>
          <p:cNvPr id="86" name="Google Shape;211;p33">
            <a:extLst>
              <a:ext uri="{FF2B5EF4-FFF2-40B4-BE49-F238E27FC236}">
                <a16:creationId xmlns:a16="http://schemas.microsoft.com/office/drawing/2014/main" id="{55F1F1F6-B48C-0A54-9A69-3544D8588154}"/>
              </a:ext>
            </a:extLst>
          </p:cNvPr>
          <p:cNvSpPr txBox="1">
            <a:spLocks/>
          </p:cNvSpPr>
          <p:nvPr/>
        </p:nvSpPr>
        <p:spPr>
          <a:xfrm>
            <a:off x="6040000" y="4116535"/>
            <a:ext cx="2880480" cy="877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 b="0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lvl="0" indent="0">
              <a:buClr>
                <a:srgbClr val="FFFFFF"/>
              </a:buClr>
              <a:defRPr/>
            </a:pPr>
            <a:r>
              <a:rPr lang="fr-FR" dirty="0"/>
              <a:t>Indicateurs clés de performance (CA, marges, stocks) et corrélations stratégiques.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/>
              <a:sym typeface="Work Sans"/>
            </a:endParaRPr>
          </a:p>
        </p:txBody>
      </p:sp>
      <p:cxnSp>
        <p:nvCxnSpPr>
          <p:cNvPr id="87" name="Google Shape;212;p33">
            <a:extLst>
              <a:ext uri="{FF2B5EF4-FFF2-40B4-BE49-F238E27FC236}">
                <a16:creationId xmlns:a16="http://schemas.microsoft.com/office/drawing/2014/main" id="{C91BB244-7D00-3A84-BD07-88ED52ED9BA9}"/>
              </a:ext>
            </a:extLst>
          </p:cNvPr>
          <p:cNvCxnSpPr/>
          <p:nvPr/>
        </p:nvCxnSpPr>
        <p:spPr>
          <a:xfrm>
            <a:off x="-14325" y="294375"/>
            <a:ext cx="19986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77905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03A60C3-49C7-9F85-BAFC-9964604DD414}"/>
              </a:ext>
            </a:extLst>
          </p:cNvPr>
          <p:cNvSpPr/>
          <p:nvPr/>
        </p:nvSpPr>
        <p:spPr>
          <a:xfrm>
            <a:off x="365760" y="148459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DATASETS</a:t>
            </a:r>
            <a:endParaRPr lang="en-US" sz="1800" dirty="0">
              <a:solidFill>
                <a:srgbClr val="1C7293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7ADBCBB-3ABE-3858-469F-CAA87FAA7498}"/>
              </a:ext>
            </a:extLst>
          </p:cNvPr>
          <p:cNvSpPr/>
          <p:nvPr/>
        </p:nvSpPr>
        <p:spPr>
          <a:xfrm>
            <a:off x="685800" y="18245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ERP.xlsx 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de gestion interne (stocks, prix d'achat, prix de vente)
</a:t>
            </a: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WEB.xlsx 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du site e-commerce (ventes en ligne, noms de produits)
</a:t>
            </a: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LIAISON.xlsx 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de correspondance entre identifiants ERP et Web</a:t>
            </a:r>
            <a:endParaRPr lang="en-US" sz="1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B7BD09D-EE82-01CF-A834-CD5810D1A231}"/>
              </a:ext>
            </a:extLst>
          </p:cNvPr>
          <p:cNvSpPr/>
          <p:nvPr/>
        </p:nvSpPr>
        <p:spPr>
          <a:xfrm>
            <a:off x="365760" y="262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CARACTÉRISTIQUES</a:t>
            </a:r>
            <a:endParaRPr lang="en-US" sz="1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A71A7AE-F898-3C6B-479D-38EA3316AE37}"/>
              </a:ext>
            </a:extLst>
          </p:cNvPr>
          <p:cNvSpPr/>
          <p:nvPr/>
        </p:nvSpPr>
        <p:spPr>
          <a:xfrm>
            <a:off x="365760" y="2990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1 535 produits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analysés (vins et spiritueux premium)
</a:t>
            </a: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variables 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prix, stocks, ventes, marges, catégories
</a:t>
            </a: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 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cumulées depuis le lancement du site</a:t>
            </a: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E346FB4-6CFF-7098-CA35-0F6AE1F78110}"/>
              </a:ext>
            </a:extLst>
          </p:cNvPr>
          <p:cNvSpPr/>
          <p:nvPr/>
        </p:nvSpPr>
        <p:spPr>
          <a:xfrm>
            <a:off x="365760" y="399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 NETTOYAGES RÉALISÉS</a:t>
            </a:r>
            <a:endParaRPr lang="en-US" sz="1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F96B075-3136-848A-CE79-6D2F4255659E}"/>
              </a:ext>
            </a:extLst>
          </p:cNvPr>
          <p:cNvSpPr/>
          <p:nvPr/>
        </p:nvSpPr>
        <p:spPr>
          <a:xfrm>
            <a:off x="365760" y="43620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Gestion des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valeurs manquantes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les prix d'achat
• Détection et traitement des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la méthode IQR
• Création de la colonne 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HT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calcul des marges</a:t>
            </a:r>
            <a:endParaRPr lang="en-US" sz="14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73F55FF-BEC7-7A65-D5DB-3FBE4ECF3909}"/>
              </a:ext>
            </a:extLst>
          </p:cNvPr>
          <p:cNvSpPr/>
          <p:nvPr/>
        </p:nvSpPr>
        <p:spPr>
          <a:xfrm>
            <a:off x="5303520" y="2578920"/>
            <a:ext cx="3657600" cy="2560320"/>
          </a:xfrm>
          <a:prstGeom prst="rect">
            <a:avLst/>
          </a:prstGeom>
          <a:solidFill>
            <a:srgbClr val="FFF9E6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857B1F3-8A49-34EB-B4BE-13D5370B109D}"/>
              </a:ext>
            </a:extLst>
          </p:cNvPr>
          <p:cNvSpPr/>
          <p:nvPr/>
        </p:nvSpPr>
        <p:spPr>
          <a:xfrm>
            <a:off x="5486400" y="271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DIFFICULTÉ MAJEURE</a:t>
            </a:r>
            <a:endParaRPr lang="en-US" sz="14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0A3178B-071C-6BC6-D6A3-48291FF9A449}"/>
              </a:ext>
            </a:extLst>
          </p:cNvPr>
          <p:cNvSpPr/>
          <p:nvPr/>
        </p:nvSpPr>
        <p:spPr>
          <a:xfrm>
            <a:off x="5486400" y="31275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:
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Identifiants différents entre ERP (product_id) et Web (sku)
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:
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en 2 étapes avec le fichier liaison en pivot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40F1DA7-2711-1BF4-575C-FA0085B9D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EEF434C4-8FD3-F147-0E6E-A9697899F041}"/>
              </a:ext>
            </a:extLst>
          </p:cNvPr>
          <p:cNvSpPr/>
          <p:nvPr/>
        </p:nvSpPr>
        <p:spPr>
          <a:xfrm>
            <a:off x="0" y="0"/>
            <a:ext cx="9144000" cy="1122744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9D47F0E5-8D4A-80D6-BDB4-4F3C9158DACC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INTRODUCTION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" name="Google Shape;1572;p55">
            <a:extLst>
              <a:ext uri="{FF2B5EF4-FFF2-40B4-BE49-F238E27FC236}">
                <a16:creationId xmlns:a16="http://schemas.microsoft.com/office/drawing/2014/main" id="{76DFD4F7-EE27-209A-F1B4-639A2734D3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5862787"/>
              </p:ext>
            </p:extLst>
          </p:nvPr>
        </p:nvGraphicFramePr>
        <p:xfrm>
          <a:off x="507094" y="1189325"/>
          <a:ext cx="8359113" cy="387481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54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4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776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800" dirty="0">
                          <a:solidFill>
                            <a:schemeClr val="lt1"/>
                          </a:solidFill>
                          <a:latin typeface="Bebas Neue" panose="020B0606020202050201" pitchFamily="34" charset="0"/>
                          <a:ea typeface="Calistoga"/>
                          <a:cs typeface="Calistoga"/>
                          <a:sym typeface="Calistoga"/>
                        </a:rPr>
                        <a:t>Objectif</a:t>
                      </a:r>
                      <a:endParaRPr sz="2800" dirty="0">
                        <a:solidFill>
                          <a:schemeClr val="lt1"/>
                        </a:solidFill>
                        <a:latin typeface="Bebas Neue" panose="020B0606020202050201" pitchFamily="34" charset="0"/>
                        <a:ea typeface="Calistoga"/>
                        <a:cs typeface="Calistoga"/>
                        <a:sym typeface="Calistog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Calistoga"/>
                          <a:ea typeface="Calistoga"/>
                          <a:cs typeface="Calistoga"/>
                          <a:sym typeface="Calistoga"/>
                        </a:rPr>
                        <a:t>Optimisation de la gestion analytique et stratégique du catalogue de vins.</a:t>
                      </a:r>
                      <a:endParaRPr sz="1600" dirty="0">
                        <a:solidFill>
                          <a:schemeClr val="tx1"/>
                        </a:solidFill>
                        <a:latin typeface="Calistoga"/>
                        <a:ea typeface="Calistoga"/>
                        <a:cs typeface="Calistoga"/>
                        <a:sym typeface="Calistoga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09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800" dirty="0">
                          <a:solidFill>
                            <a:schemeClr val="lt1"/>
                          </a:solidFill>
                          <a:latin typeface="Bebas Neue" panose="020B0606020202050201" pitchFamily="34" charset="0"/>
                          <a:ea typeface="Calistoga"/>
                          <a:cs typeface="Calistoga"/>
                          <a:sym typeface="Calistoga"/>
                        </a:rPr>
                        <a:t>Contexte</a:t>
                      </a:r>
                      <a:endParaRPr sz="2800" dirty="0">
                        <a:solidFill>
                          <a:schemeClr val="lt1"/>
                        </a:solidFill>
                        <a:latin typeface="Bebas Neue" panose="020B0606020202050201" pitchFamily="34" charset="0"/>
                        <a:ea typeface="Calistoga"/>
                        <a:cs typeface="Calistoga"/>
                        <a:sym typeface="Calistog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Consultant Data missionné pour résoudre la complexité de gestion liée à des outils hétérogènes et artisanaux.</a:t>
                      </a:r>
                      <a:endParaRPr sz="1600" dirty="0">
                        <a:solidFill>
                          <a:schemeClr val="tx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66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800" dirty="0">
                          <a:solidFill>
                            <a:schemeClr val="lt1"/>
                          </a:solidFill>
                          <a:latin typeface="Bebas Neue" panose="020B0606020202050201" pitchFamily="34" charset="0"/>
                          <a:ea typeface="Calistoga"/>
                          <a:cs typeface="Calistoga"/>
                          <a:sym typeface="Calistoga"/>
                        </a:rPr>
                        <a:t>Projet</a:t>
                      </a:r>
                      <a:endParaRPr sz="2800" dirty="0">
                        <a:solidFill>
                          <a:schemeClr val="lt1"/>
                        </a:solidFill>
                        <a:latin typeface="Bebas Neue" panose="020B0606020202050201" pitchFamily="34" charset="0"/>
                        <a:ea typeface="Calistoga"/>
                        <a:cs typeface="Calistoga"/>
                        <a:sym typeface="Calistog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Unification des flux de données (</a:t>
                      </a:r>
                      <a:r>
                        <a:rPr lang="fr-FR" sz="1600" b="1" dirty="0"/>
                        <a:t>ERP, Web, Liaison</a:t>
                      </a:r>
                      <a:r>
                        <a:rPr lang="fr-FR" sz="1600" dirty="0"/>
                        <a:t>) pour offrir une vision 360° de l'activité.</a:t>
                      </a:r>
                      <a:endParaRPr sz="1600" dirty="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348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800" dirty="0">
                          <a:solidFill>
                            <a:schemeClr val="lt1"/>
                          </a:solidFill>
                          <a:latin typeface="Bebas Neue" panose="020B0606020202050201" pitchFamily="34" charset="0"/>
                          <a:ea typeface="Calistoga"/>
                          <a:cs typeface="Calistoga"/>
                          <a:sym typeface="Calistoga"/>
                        </a:rPr>
                        <a:t>Mission</a:t>
                      </a:r>
                      <a:endParaRPr sz="2800" dirty="0">
                        <a:solidFill>
                          <a:schemeClr val="lt1"/>
                        </a:solidFill>
                        <a:latin typeface="Bebas Neue" panose="020B0606020202050201" pitchFamily="34" charset="0"/>
                        <a:ea typeface="Calistoga"/>
                        <a:cs typeface="Calistoga"/>
                        <a:sym typeface="Calistog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Consolidation technique et fiabilisation du </a:t>
                      </a:r>
                      <a:r>
                        <a:rPr lang="fr-FR" sz="1600" dirty="0" err="1"/>
                        <a:t>dataset</a:t>
                      </a:r>
                      <a:r>
                        <a:rPr lang="fr-FR" sz="1600" dirty="0"/>
                        <a:t> (Audit Qualité). Et Analyse de performance (CA, Marges, Stocks) et détection d'</a:t>
                      </a:r>
                      <a:r>
                        <a:rPr lang="fr-FR" sz="1600" dirty="0" err="1"/>
                        <a:t>outliers</a:t>
                      </a:r>
                      <a:r>
                        <a:rPr lang="fr-FR" sz="1600" dirty="0"/>
                        <a:t>. </a:t>
                      </a:r>
                      <a:endParaRPr sz="1600" dirty="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3494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800" dirty="0">
                          <a:solidFill>
                            <a:schemeClr val="lt1"/>
                          </a:solidFill>
                          <a:latin typeface="Bebas Neue" panose="020B0606020202050201" pitchFamily="34" charset="0"/>
                          <a:ea typeface="Calistoga"/>
                          <a:cs typeface="Calistoga"/>
                          <a:sym typeface="Calistoga"/>
                        </a:rPr>
                        <a:t>Valeur ajoutée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600" dirty="0">
                          <a:solidFill>
                            <a:schemeClr val="tx1"/>
                          </a:solidFill>
                        </a:rPr>
                        <a:t>Fournir au </a:t>
                      </a:r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CODIR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</a:rPr>
                        <a:t> des indicateurs fiables et une base saine pour le futur projet de </a:t>
                      </a:r>
                      <a:r>
                        <a:rPr lang="fr-FR" sz="1600" b="1" dirty="0">
                          <a:solidFill>
                            <a:schemeClr val="tx1"/>
                          </a:solidFill>
                        </a:rPr>
                        <a:t>Data Visualisation</a:t>
                      </a:r>
                      <a:r>
                        <a:rPr lang="fr-FR" sz="16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fr-FR" sz="1600" dirty="0">
                        <a:solidFill>
                          <a:schemeClr val="tx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406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163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599E9839-4F88-D231-E0C2-2D84C5E6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>
            <a:extLst>
              <a:ext uri="{FF2B5EF4-FFF2-40B4-BE49-F238E27FC236}">
                <a16:creationId xmlns:a16="http://schemas.microsoft.com/office/drawing/2014/main" id="{C3130300-79B2-4482-DE8F-F9B19C341288}"/>
              </a:ext>
            </a:extLst>
          </p:cNvPr>
          <p:cNvSpPr/>
          <p:nvPr/>
        </p:nvSpPr>
        <p:spPr>
          <a:xfrm>
            <a:off x="0" y="0"/>
            <a:ext cx="9144000" cy="1201525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12489749-A9CA-AC70-F860-BA4103183C36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>
            <a:extLst>
              <a:ext uri="{FF2B5EF4-FFF2-40B4-BE49-F238E27FC236}">
                <a16:creationId xmlns:a16="http://schemas.microsoft.com/office/drawing/2014/main" id="{CD48A916-CC3A-FB06-3792-1271C79B1958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370;p40">
            <a:extLst>
              <a:ext uri="{FF2B5EF4-FFF2-40B4-BE49-F238E27FC236}">
                <a16:creationId xmlns:a16="http://schemas.microsoft.com/office/drawing/2014/main" id="{FF0A6F44-AB12-3671-4CE7-54612F144F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824" y="1294461"/>
            <a:ext cx="2329171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fr-FR" sz="1400" b="0" i="1" u="none" strike="noStrike" kern="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CHOIX DES ATTRIBUTS</a:t>
            </a:r>
            <a:endParaRPr lang="fr-FR" sz="1400" dirty="0"/>
          </a:p>
        </p:txBody>
      </p:sp>
      <p:sp>
        <p:nvSpPr>
          <p:cNvPr id="48" name="Google Shape;378;p40">
            <a:extLst>
              <a:ext uri="{FF2B5EF4-FFF2-40B4-BE49-F238E27FC236}">
                <a16:creationId xmlns:a16="http://schemas.microsoft.com/office/drawing/2014/main" id="{9EC62B2E-D765-2AED-5C2A-F08B01BB6835}"/>
              </a:ext>
            </a:extLst>
          </p:cNvPr>
          <p:cNvSpPr txBox="1">
            <a:spLocks/>
          </p:cNvSpPr>
          <p:nvPr/>
        </p:nvSpPr>
        <p:spPr>
          <a:xfrm>
            <a:off x="290824" y="3932484"/>
            <a:ext cx="5732024" cy="389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Gestion des valeurs manquantes (NaN) et des valeurs aberrantes</a:t>
            </a:r>
            <a:endParaRPr lang="en-US" dirty="0"/>
          </a:p>
        </p:txBody>
      </p:sp>
      <p:sp>
        <p:nvSpPr>
          <p:cNvPr id="75" name="Google Shape;370;p40">
            <a:extLst>
              <a:ext uri="{FF2B5EF4-FFF2-40B4-BE49-F238E27FC236}">
                <a16:creationId xmlns:a16="http://schemas.microsoft.com/office/drawing/2014/main" id="{E552AB7C-E417-18D0-D3EE-5F5EAF3C787D}"/>
              </a:ext>
            </a:extLst>
          </p:cNvPr>
          <p:cNvSpPr txBox="1">
            <a:spLocks/>
          </p:cNvSpPr>
          <p:nvPr/>
        </p:nvSpPr>
        <p:spPr>
          <a:xfrm>
            <a:off x="252674" y="2486154"/>
            <a:ext cx="3112455" cy="32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600" i="1" dirty="0">
                <a:solidFill>
                  <a:srgbClr val="1C7293"/>
                </a:solidFill>
                <a:latin typeface="Montserrat"/>
                <a:ea typeface="Montserrat"/>
                <a:cs typeface="Montserrat"/>
                <a:sym typeface="Montserrat"/>
              </a:rPr>
              <a:t>CLÉS UTILISÉES (MAPPING)</a:t>
            </a:r>
            <a:endParaRPr lang="fr-FR" sz="1600" dirty="0"/>
          </a:p>
        </p:txBody>
      </p:sp>
      <p:sp>
        <p:nvSpPr>
          <p:cNvPr id="76" name="Google Shape;370;p40">
            <a:extLst>
              <a:ext uri="{FF2B5EF4-FFF2-40B4-BE49-F238E27FC236}">
                <a16:creationId xmlns:a16="http://schemas.microsoft.com/office/drawing/2014/main" id="{25CD8F71-4E10-F867-D9ED-08C4DC6FC4C5}"/>
              </a:ext>
            </a:extLst>
          </p:cNvPr>
          <p:cNvSpPr txBox="1">
            <a:spLocks/>
          </p:cNvSpPr>
          <p:nvPr/>
        </p:nvSpPr>
        <p:spPr>
          <a:xfrm>
            <a:off x="283509" y="3659033"/>
            <a:ext cx="4660897" cy="282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" sz="1400" i="1" dirty="0">
                <a:solidFill>
                  <a:srgbClr val="1C7293"/>
                </a:solidFill>
                <a:latin typeface="Montserrat"/>
                <a:ea typeface="Montserrat"/>
                <a:cs typeface="Montserrat"/>
                <a:sym typeface="Montserrat"/>
              </a:rPr>
              <a:t>VERIFICATIONS ESSENTIELLES </a:t>
            </a:r>
            <a:endParaRPr lang="fr-FR" sz="1400" dirty="0"/>
          </a:p>
        </p:txBody>
      </p:sp>
      <p:sp>
        <p:nvSpPr>
          <p:cNvPr id="77" name="Google Shape;370;p40">
            <a:extLst>
              <a:ext uri="{FF2B5EF4-FFF2-40B4-BE49-F238E27FC236}">
                <a16:creationId xmlns:a16="http://schemas.microsoft.com/office/drawing/2014/main" id="{F8CCAEC7-DE77-78C3-CD15-3B2FECCCA867}"/>
              </a:ext>
            </a:extLst>
          </p:cNvPr>
          <p:cNvSpPr txBox="1">
            <a:spLocks/>
          </p:cNvSpPr>
          <p:nvPr/>
        </p:nvSpPr>
        <p:spPr>
          <a:xfrm>
            <a:off x="283509" y="4150150"/>
            <a:ext cx="373985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" sz="1400" i="1" dirty="0">
                <a:solidFill>
                  <a:srgbClr val="1C7293"/>
                </a:solidFill>
                <a:latin typeface="Montserrat"/>
                <a:ea typeface="Montserrat"/>
                <a:cs typeface="Montserrat"/>
                <a:sym typeface="Montserrat"/>
              </a:rPr>
              <a:t>DIFFICULTÉS OU PIÈGES RENCONTRÉS</a:t>
            </a:r>
            <a:endParaRPr lang="fr-FR" sz="1400" dirty="0"/>
          </a:p>
        </p:txBody>
      </p:sp>
      <p:sp>
        <p:nvSpPr>
          <p:cNvPr id="80" name="Google Shape;376;p40">
            <a:extLst>
              <a:ext uri="{FF2B5EF4-FFF2-40B4-BE49-F238E27FC236}">
                <a16:creationId xmlns:a16="http://schemas.microsoft.com/office/drawing/2014/main" id="{CEAE4ABD-3A62-22FA-C5D7-9E43D0369F6D}"/>
              </a:ext>
            </a:extLst>
          </p:cNvPr>
          <p:cNvSpPr txBox="1">
            <a:spLocks/>
          </p:cNvSpPr>
          <p:nvPr/>
        </p:nvSpPr>
        <p:spPr>
          <a:xfrm>
            <a:off x="233331" y="1652186"/>
            <a:ext cx="6263595" cy="7201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/>
              <a:t>Objectif :</a:t>
            </a:r>
            <a:r>
              <a:rPr lang="fr-FR" sz="1200" dirty="0"/>
              <a:t> Fusionner trois sources distinctes (ERP, Web et Table de liaison).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/>
              <a:t>Données conservées :</a:t>
            </a:r>
            <a:r>
              <a:rPr lang="fr-FR" sz="1200" dirty="0"/>
              <a:t> L'intégralité du catalogue produit (ERP) et des données de performance </a:t>
            </a:r>
            <a:r>
              <a:rPr lang="fr-FR" sz="1200" b="1" dirty="0"/>
              <a:t>Indicateur de volume :</a:t>
            </a:r>
            <a:r>
              <a:rPr lang="fr-FR" sz="1200" dirty="0"/>
              <a:t> Passage d'un catalogue ERP de </a:t>
            </a:r>
            <a:r>
              <a:rPr lang="fr-FR" sz="1200" b="1" dirty="0"/>
              <a:t>825</a:t>
            </a:r>
            <a:r>
              <a:rPr lang="fr-FR" sz="1200" dirty="0"/>
              <a:t> références à un </a:t>
            </a:r>
            <a:r>
              <a:rPr lang="fr-FR" sz="1200" dirty="0" err="1"/>
              <a:t>dataset</a:t>
            </a:r>
            <a:r>
              <a:rPr lang="fr-FR" sz="1200" dirty="0"/>
              <a:t> final de </a:t>
            </a:r>
            <a:r>
              <a:rPr lang="fr-FR" sz="1200" b="1" dirty="0"/>
              <a:t>1535</a:t>
            </a:r>
            <a:endParaRPr lang="en-US" sz="1200" dirty="0"/>
          </a:p>
        </p:txBody>
      </p:sp>
      <p:sp>
        <p:nvSpPr>
          <p:cNvPr id="82" name="Google Shape;376;p40">
            <a:extLst>
              <a:ext uri="{FF2B5EF4-FFF2-40B4-BE49-F238E27FC236}">
                <a16:creationId xmlns:a16="http://schemas.microsoft.com/office/drawing/2014/main" id="{78020842-356B-17FA-D5FE-AF60474ECFBD}"/>
              </a:ext>
            </a:extLst>
          </p:cNvPr>
          <p:cNvSpPr txBox="1">
            <a:spLocks/>
          </p:cNvSpPr>
          <p:nvPr/>
        </p:nvSpPr>
        <p:spPr>
          <a:xfrm>
            <a:off x="290825" y="4530318"/>
            <a:ext cx="3866648" cy="498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Complexité de la table de liaison entre ERP et Web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Risque de perte de données avec un INNER JOIN</a:t>
            </a:r>
          </a:p>
        </p:txBody>
      </p:sp>
      <p:sp>
        <p:nvSpPr>
          <p:cNvPr id="84" name="Google Shape;376;p40">
            <a:extLst>
              <a:ext uri="{FF2B5EF4-FFF2-40B4-BE49-F238E27FC236}">
                <a16:creationId xmlns:a16="http://schemas.microsoft.com/office/drawing/2014/main" id="{FF82E33A-35D9-3662-4529-9569149AEDD3}"/>
              </a:ext>
            </a:extLst>
          </p:cNvPr>
          <p:cNvSpPr txBox="1">
            <a:spLocks/>
          </p:cNvSpPr>
          <p:nvPr/>
        </p:nvSpPr>
        <p:spPr>
          <a:xfrm>
            <a:off x="257733" y="2764357"/>
            <a:ext cx="4898092" cy="10208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200" b="1" dirty="0"/>
              <a:t>Pivot central :</a:t>
            </a:r>
            <a:r>
              <a:rPr lang="fr-FR" sz="1200" dirty="0"/>
              <a:t> Utilisation de la table de liaison pour réconcilier les </a:t>
            </a:r>
            <a:r>
              <a:rPr lang="fr-FR" dirty="0" err="1"/>
              <a:t>product_id</a:t>
            </a:r>
            <a:r>
              <a:rPr lang="fr-FR" sz="1200" dirty="0"/>
              <a:t> (ERP) et les </a:t>
            </a:r>
            <a:r>
              <a:rPr lang="fr-FR" dirty="0"/>
              <a:t>SKU/</a:t>
            </a:r>
            <a:r>
              <a:rPr lang="fr-FR" dirty="0" err="1"/>
              <a:t>id_web</a:t>
            </a:r>
            <a:r>
              <a:rPr lang="fr-FR" sz="1200" dirty="0"/>
              <a:t> (Web). </a:t>
            </a:r>
          </a:p>
          <a:p>
            <a:r>
              <a:rPr lang="fr-FR" sz="1200" b="1" dirty="0"/>
              <a:t>Validation :</a:t>
            </a:r>
            <a:r>
              <a:rPr lang="fr-FR" sz="1200" dirty="0"/>
              <a:t> Vérification de l'unicité des clés avant fusion pour éviter les doublons accidentels et le gonflement artificiel du </a:t>
            </a:r>
            <a:r>
              <a:rPr lang="fr-FR" sz="1200" dirty="0" err="1"/>
              <a:t>dataset</a:t>
            </a:r>
            <a:r>
              <a:rPr lang="fr-FR" sz="1200" dirty="0"/>
              <a:t>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9078BAA-583D-637B-2F53-EBE285210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926" y="1486083"/>
            <a:ext cx="2290979" cy="3542259"/>
          </a:xfrm>
          <a:prstGeom prst="rect">
            <a:avLst/>
          </a:prstGeom>
          <a:ln>
            <a:solidFill>
              <a:srgbClr val="004D40"/>
            </a:solidFill>
          </a:ln>
        </p:spPr>
      </p:pic>
    </p:spTree>
    <p:extLst>
      <p:ext uri="{BB962C8B-B14F-4D97-AF65-F5344CB8AC3E}">
        <p14:creationId xmlns:p14="http://schemas.microsoft.com/office/powerpoint/2010/main" val="773293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06666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24581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83079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D20AE0-5950-AFDC-4F51-B4CAB7B796CC}"/>
              </a:ext>
            </a:extLst>
          </p:cNvPr>
          <p:cNvSpPr/>
          <p:nvPr/>
        </p:nvSpPr>
        <p:spPr>
          <a:xfrm>
            <a:off x="200152" y="1104669"/>
            <a:ext cx="4499170" cy="384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MÉTHODE STATISTIQUE </a:t>
            </a: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EMPLOYÉE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E45ECD7-90C9-9E62-AD92-09717ECFC56A}"/>
              </a:ext>
            </a:extLst>
          </p:cNvPr>
          <p:cNvSpPr/>
          <p:nvPr/>
        </p:nvSpPr>
        <p:spPr>
          <a:xfrm>
            <a:off x="276790" y="1526280"/>
            <a:ext cx="4295209" cy="2103120"/>
          </a:xfrm>
          <a:prstGeom prst="rect">
            <a:avLst/>
          </a:prstGeom>
          <a:solidFill>
            <a:srgbClr val="FFF9E6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649096-C576-DFD2-4304-BC43186E6386}"/>
              </a:ext>
            </a:extLst>
          </p:cNvPr>
          <p:cNvSpPr/>
          <p:nvPr/>
        </p:nvSpPr>
        <p:spPr>
          <a:xfrm>
            <a:off x="200152" y="1561645"/>
            <a:ext cx="3633517" cy="547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D'OUTLIERS</a:t>
            </a:r>
            <a:r>
              <a:rPr lang="en-US" dirty="0">
                <a:ea typeface="Arial" pitchFamily="34" charset="-122"/>
              </a:rPr>
              <a:t> </a:t>
            </a:r>
            <a:r>
              <a:rPr lang="en-US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IQR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293FAC9-D978-BF4F-B12A-AE42E3C637D3}"/>
              </a:ext>
            </a:extLst>
          </p:cNvPr>
          <p:cNvSpPr/>
          <p:nvPr/>
        </p:nvSpPr>
        <p:spPr>
          <a:xfrm>
            <a:off x="436221" y="2191672"/>
            <a:ext cx="3202871" cy="1277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IQR = Q3 - Q1
</a:t>
            </a:r>
            <a:r>
              <a:rPr lang="en-US" sz="12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Borne inf = Q1 - 1.5 × IQR
Borne sup = Q3 + 1.5 × IQR
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si valeur &lt; Borne inf
         ou valeur &gt; Borne sup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7007E7-3CBC-B453-F995-3087F9B7B150}"/>
              </a:ext>
            </a:extLst>
          </p:cNvPr>
          <p:cNvSpPr/>
          <p:nvPr/>
        </p:nvSpPr>
        <p:spPr>
          <a:xfrm>
            <a:off x="4815840" y="1107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RÉSULTATS DE L'ANALYSE</a:t>
            </a:r>
            <a:endParaRPr lang="en-US" sz="1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C1CAD80-DB90-A564-AAFD-901DCBDEF1D4}"/>
              </a:ext>
            </a:extLst>
          </p:cNvPr>
          <p:cNvSpPr/>
          <p:nvPr/>
        </p:nvSpPr>
        <p:spPr>
          <a:xfrm>
            <a:off x="4907280" y="1565040"/>
            <a:ext cx="3749040" cy="2103120"/>
          </a:xfrm>
          <a:prstGeom prst="rect">
            <a:avLst/>
          </a:prstGeom>
          <a:solidFill>
            <a:srgbClr val="E8F5E9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460F8D8-709B-7D5C-9C02-EEF96DD309AD}"/>
              </a:ext>
            </a:extLst>
          </p:cNvPr>
          <p:cNvSpPr/>
          <p:nvPr/>
        </p:nvSpPr>
        <p:spPr>
          <a:xfrm>
            <a:off x="5000313" y="1609346"/>
            <a:ext cx="3291840" cy="194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</a:t>
            </a:r>
            <a:r>
              <a:rPr lang="en-US" sz="16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détectés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</a:t>
            </a: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</a:t>
            </a:r>
            <a:r>
              <a:rPr lang="en-US" sz="1600" b="1" dirty="0" err="1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</a:t>
            </a: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minimum : - 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20 €
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maximum : 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225.00 €
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</a:t>
            </a:r>
            <a:r>
              <a:rPr lang="en-US" sz="16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médian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24.00 €
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moyen : 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32.25 €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6EB8B41-F95D-54CD-E928-6BF702D94B4B}"/>
              </a:ext>
            </a:extLst>
          </p:cNvPr>
          <p:cNvSpPr/>
          <p:nvPr/>
        </p:nvSpPr>
        <p:spPr>
          <a:xfrm>
            <a:off x="206248" y="3678859"/>
            <a:ext cx="202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INTERPRÉTATION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465103A-F419-031D-7368-19BCBADC414E}"/>
              </a:ext>
            </a:extLst>
          </p:cNvPr>
          <p:cNvSpPr/>
          <p:nvPr/>
        </p:nvSpPr>
        <p:spPr>
          <a:xfrm>
            <a:off x="200152" y="3551433"/>
            <a:ext cx="6446081" cy="1529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asymétrique :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 &gt; Médiane (présence de produits premium)
</a:t>
            </a:r>
            <a:r>
              <a:rPr lang="en-US" sz="1300" b="1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IQR choisie :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robuste que le Z-Score pour distributions non-normales
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légitimes :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 d'exception (champagnes millésimés, cognacs rares)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C6547F0-67E2-3250-F9C7-F0B0CFC05337}"/>
              </a:ext>
            </a:extLst>
          </p:cNvPr>
          <p:cNvSpPr/>
          <p:nvPr/>
        </p:nvSpPr>
        <p:spPr>
          <a:xfrm>
            <a:off x="276790" y="4775200"/>
            <a:ext cx="8379529" cy="219221"/>
          </a:xfrm>
          <a:prstGeom prst="rect">
            <a:avLst/>
          </a:prstGeom>
          <a:solidFill>
            <a:srgbClr val="FFE6E6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42826D7-F8C2-51FC-7FEF-A6619BC2C00F}"/>
              </a:ext>
            </a:extLst>
          </p:cNvPr>
          <p:cNvSpPr/>
          <p:nvPr/>
        </p:nvSpPr>
        <p:spPr>
          <a:xfrm>
            <a:off x="206248" y="471481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Limite : </a:t>
            </a: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Certains outliers pourraient être des erreurs de saisie nécessitant une vérification manuelle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4993058F-B18A-B4FF-2BA2-C0726B3A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>
            <a:extLst>
              <a:ext uri="{FF2B5EF4-FFF2-40B4-BE49-F238E27FC236}">
                <a16:creationId xmlns:a16="http://schemas.microsoft.com/office/drawing/2014/main" id="{DD51034F-4AFA-B448-9323-3D11BB2CE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lang="fr-FR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>
            <a:extLst>
              <a:ext uri="{FF2B5EF4-FFF2-40B4-BE49-F238E27FC236}">
                <a16:creationId xmlns:a16="http://schemas.microsoft.com/office/drawing/2014/main" id="{38C48899-CFD5-3F67-C371-92F2F5661EE2}"/>
              </a:ext>
            </a:extLst>
          </p:cNvPr>
          <p:cNvSpPr/>
          <p:nvPr/>
        </p:nvSpPr>
        <p:spPr>
          <a:xfrm>
            <a:off x="0" y="0"/>
            <a:ext cx="9144000" cy="923084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FB9BAA02-E226-5287-9524-CD3590E76100}"/>
              </a:ext>
            </a:extLst>
          </p:cNvPr>
          <p:cNvSpPr txBox="1"/>
          <p:nvPr/>
        </p:nvSpPr>
        <p:spPr>
          <a:xfrm>
            <a:off x="810181" y="13060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ERREURS DÉTECTÉES ET TRAITÉES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>
            <a:extLst>
              <a:ext uri="{FF2B5EF4-FFF2-40B4-BE49-F238E27FC236}">
                <a16:creationId xmlns:a16="http://schemas.microsoft.com/office/drawing/2014/main" id="{D69BF7FF-4A83-BC04-6814-F73754802C62}"/>
              </a:ext>
            </a:extLst>
          </p:cNvPr>
          <p:cNvSpPr/>
          <p:nvPr/>
        </p:nvSpPr>
        <p:spPr>
          <a:xfrm>
            <a:off x="1012175" y="62759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86F63F5-EF5A-5B05-D11E-6960077AC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547309"/>
              </p:ext>
            </p:extLst>
          </p:nvPr>
        </p:nvGraphicFramePr>
        <p:xfrm>
          <a:off x="275124" y="959660"/>
          <a:ext cx="8520600" cy="4169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147">
                  <a:extLst>
                    <a:ext uri="{9D8B030D-6E8A-4147-A177-3AD203B41FA5}">
                      <a16:colId xmlns:a16="http://schemas.microsoft.com/office/drawing/2014/main" val="4246999614"/>
                    </a:ext>
                  </a:extLst>
                </a:gridCol>
                <a:gridCol w="2624345">
                  <a:extLst>
                    <a:ext uri="{9D8B030D-6E8A-4147-A177-3AD203B41FA5}">
                      <a16:colId xmlns:a16="http://schemas.microsoft.com/office/drawing/2014/main" val="3532712213"/>
                    </a:ext>
                  </a:extLst>
                </a:gridCol>
                <a:gridCol w="2808958">
                  <a:extLst>
                    <a:ext uri="{9D8B030D-6E8A-4147-A177-3AD203B41FA5}">
                      <a16:colId xmlns:a16="http://schemas.microsoft.com/office/drawing/2014/main" val="1660045849"/>
                    </a:ext>
                  </a:extLst>
                </a:gridCol>
                <a:gridCol w="2130150">
                  <a:extLst>
                    <a:ext uri="{9D8B030D-6E8A-4147-A177-3AD203B41FA5}">
                      <a16:colId xmlns:a16="http://schemas.microsoft.com/office/drawing/2014/main" val="1868353880"/>
                    </a:ext>
                  </a:extLst>
                </a:gridCol>
              </a:tblGrid>
              <a:tr h="480666">
                <a:tc>
                  <a:txBody>
                    <a:bodyPr/>
                    <a:lstStyle/>
                    <a:p>
                      <a:r>
                        <a:rPr lang="fr-FR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#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Problème Détecté</a:t>
                      </a:r>
                      <a:endParaRPr lang="fr-FR" sz="14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Solution Appliquée</a:t>
                      </a:r>
                      <a:endParaRPr lang="fr-FR" sz="1400" dirty="0">
                        <a:effectLst/>
                      </a:endParaRP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Impact</a:t>
                      </a:r>
                      <a:endParaRPr lang="fr-FR" sz="1400" dirty="0">
                        <a:effectLst/>
                      </a:endParaRP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935260"/>
                  </a:ext>
                </a:extLst>
              </a:tr>
              <a:tr h="394585"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Incohérence </a:t>
                      </a:r>
                      <a:r>
                        <a:rPr lang="fr-FR" sz="140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stock_status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Règle logique (si </a:t>
                      </a:r>
                      <a:r>
                        <a:rPr lang="fr-FR" dirty="0" err="1"/>
                        <a:t>Qty</a:t>
                      </a:r>
                      <a:r>
                        <a:rPr lang="fr-FR" dirty="0"/>
                        <a:t> &gt; 0 = </a:t>
                      </a:r>
                      <a:r>
                        <a:rPr lang="fr-FR" dirty="0" err="1"/>
                        <a:t>instock</a:t>
                      </a:r>
                      <a:r>
                        <a:rPr lang="fr-F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✅ 1 ligne corrigée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017671"/>
                  </a:ext>
                </a:extLst>
              </a:tr>
              <a:tr h="394585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 prix de vente négatifs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Identification &amp; isolation (</a:t>
                      </a:r>
                      <a:r>
                        <a:rPr lang="fr-FR" dirty="0" err="1"/>
                        <a:t>outliers</a:t>
                      </a:r>
                      <a:r>
                        <a:rPr lang="fr-F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⚠️ Données conservées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206295"/>
                  </a:ext>
                </a:extLst>
              </a:tr>
              <a:tr h="394585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 stocks négatifs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Marquage pour suivi inventaire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⚠️ Erreur signalée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817624"/>
                  </a:ext>
                </a:extLst>
              </a:tr>
              <a:tr h="394585">
                <a:tc>
                  <a:txBody>
                    <a:bodyPr/>
                    <a:lstStyle/>
                    <a:p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85 lignes Web sans 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Suppression des lignes vides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✅ </a:t>
                      </a:r>
                      <a:r>
                        <a:rPr lang="fr-FR" dirty="0" err="1"/>
                        <a:t>Dataset</a:t>
                      </a:r>
                      <a:r>
                        <a:rPr lang="fr-FR" dirty="0"/>
                        <a:t> fiabilisé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269472"/>
                  </a:ext>
                </a:extLst>
              </a:tr>
              <a:tr h="480666"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91 produits ERP orphelins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Jointure de type 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OUTER JOIN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✅ Aucune donnée perdue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778487"/>
                  </a:ext>
                </a:extLst>
              </a:tr>
              <a:tr h="394585">
                <a:tc>
                  <a:txBody>
                    <a:bodyPr/>
                    <a:lstStyle/>
                    <a:p>
                      <a:r>
                        <a:rPr lang="fr-F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31 </a:t>
                      </a:r>
                      <a:r>
                        <a:rPr lang="fr-FR" dirty="0" err="1"/>
                        <a:t>outliers</a:t>
                      </a:r>
                      <a:r>
                        <a:rPr lang="fr-FR" dirty="0"/>
                        <a:t> prix (Méthode IQR)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Analyse &amp; validation manuelle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✅ Produits Luxe validés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52698"/>
                  </a:ext>
                </a:extLst>
              </a:tr>
              <a:tr h="394585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 marge négative aberrante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Identification (erreur saisie achat)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⚠️ Alerte générée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703446"/>
                  </a:ext>
                </a:extLst>
              </a:tr>
              <a:tr h="394585">
                <a:tc>
                  <a:txBody>
                    <a:bodyPr/>
                    <a:lstStyle/>
                    <a:p>
                      <a:r>
                        <a:rPr lang="fr-F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Colonne redondante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Suppression de 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stock_status_2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✅ </a:t>
                      </a:r>
                      <a:r>
                        <a:rPr lang="fr-FR" dirty="0" err="1"/>
                        <a:t>Dataset</a:t>
                      </a:r>
                      <a:r>
                        <a:rPr lang="fr-FR" dirty="0"/>
                        <a:t> optimisé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847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6458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770379" y="1755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0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0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sz="2000" dirty="0"/>
          </a:p>
        </p:txBody>
      </p:sp>
      <p:sp>
        <p:nvSpPr>
          <p:cNvPr id="89" name="Google Shape;89;p7"/>
          <p:cNvSpPr/>
          <p:nvPr/>
        </p:nvSpPr>
        <p:spPr>
          <a:xfrm>
            <a:off x="90799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718;p52">
            <a:extLst>
              <a:ext uri="{FF2B5EF4-FFF2-40B4-BE49-F238E27FC236}">
                <a16:creationId xmlns:a16="http://schemas.microsoft.com/office/drawing/2014/main" id="{C521CB0F-F18F-71FB-DFD5-0A1BF8E312E8}"/>
              </a:ext>
            </a:extLst>
          </p:cNvPr>
          <p:cNvSpPr txBox="1"/>
          <p:nvPr/>
        </p:nvSpPr>
        <p:spPr>
          <a:xfrm>
            <a:off x="1382646" y="2064628"/>
            <a:ext cx="2474400" cy="119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Évaluation de la performance globale pour identifier les produits moteurs de la croissance.</a:t>
            </a:r>
            <a:endParaRPr dirty="0">
              <a:solidFill>
                <a:schemeClr val="tx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2" name="Google Shape;719;p52">
            <a:extLst>
              <a:ext uri="{FF2B5EF4-FFF2-40B4-BE49-F238E27FC236}">
                <a16:creationId xmlns:a16="http://schemas.microsoft.com/office/drawing/2014/main" id="{65CECE8B-6C4B-4F22-6B4E-737E46397BC5}"/>
              </a:ext>
            </a:extLst>
          </p:cNvPr>
          <p:cNvSpPr txBox="1"/>
          <p:nvPr/>
        </p:nvSpPr>
        <p:spPr>
          <a:xfrm>
            <a:off x="5436537" y="2064629"/>
            <a:ext cx="2474400" cy="1027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Analyse des volumes pour distinguer les produits à forte rotation des références dormantes.</a:t>
            </a:r>
            <a:endParaRPr dirty="0">
              <a:solidFill>
                <a:schemeClr val="tx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3" name="Google Shape;720;p52">
            <a:extLst>
              <a:ext uri="{FF2B5EF4-FFF2-40B4-BE49-F238E27FC236}">
                <a16:creationId xmlns:a16="http://schemas.microsoft.com/office/drawing/2014/main" id="{D422C1A1-3BC6-46AD-A362-045AB3F0EAC8}"/>
              </a:ext>
            </a:extLst>
          </p:cNvPr>
          <p:cNvSpPr txBox="1"/>
          <p:nvPr/>
        </p:nvSpPr>
        <p:spPr>
          <a:xfrm>
            <a:off x="1359993" y="3735654"/>
            <a:ext cx="2474400" cy="125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200"/>
              </a:spcAft>
            </a:pPr>
            <a:r>
              <a:rPr lang="fr-FR" dirty="0"/>
              <a:t>Diagnostic de la santé du catalogue pour optimiser la valorisation et libérer la trésorerie immobilisée.</a:t>
            </a:r>
            <a:endParaRPr dirty="0">
              <a:solidFill>
                <a:schemeClr val="tx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4" name="Google Shape;721;p52">
            <a:extLst>
              <a:ext uri="{FF2B5EF4-FFF2-40B4-BE49-F238E27FC236}">
                <a16:creationId xmlns:a16="http://schemas.microsoft.com/office/drawing/2014/main" id="{5054C9D3-AFCF-B54F-F75C-8D7B33649673}"/>
              </a:ext>
            </a:extLst>
          </p:cNvPr>
          <p:cNvSpPr txBox="1"/>
          <p:nvPr/>
        </p:nvSpPr>
        <p:spPr>
          <a:xfrm>
            <a:off x="1382639" y="1644860"/>
            <a:ext cx="2222921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tx1"/>
                </a:solidFill>
                <a:latin typeface="Bebas Neue"/>
                <a:ea typeface="Bebas Neue"/>
                <a:cs typeface="Bebas Neue"/>
                <a:sym typeface="Bebas Neue"/>
              </a:rPr>
              <a:t>Chiffre d’affaires</a:t>
            </a:r>
            <a:endParaRPr sz="2400" dirty="0">
              <a:solidFill>
                <a:schemeClr val="tx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5" name="Google Shape;722;p52">
            <a:extLst>
              <a:ext uri="{FF2B5EF4-FFF2-40B4-BE49-F238E27FC236}">
                <a16:creationId xmlns:a16="http://schemas.microsoft.com/office/drawing/2014/main" id="{4360AA26-6C85-7FA3-30F4-EAA758EC6F45}"/>
              </a:ext>
            </a:extLst>
          </p:cNvPr>
          <p:cNvSpPr txBox="1"/>
          <p:nvPr/>
        </p:nvSpPr>
        <p:spPr>
          <a:xfrm>
            <a:off x="1359996" y="3317238"/>
            <a:ext cx="16119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tx1"/>
                </a:solidFill>
                <a:latin typeface="Bebas Neue"/>
                <a:ea typeface="Bebas Neue"/>
                <a:cs typeface="Bebas Neue"/>
                <a:sym typeface="Bebas Neue"/>
              </a:rPr>
              <a:t>STOCKS</a:t>
            </a:r>
            <a:endParaRPr sz="2400" dirty="0">
              <a:solidFill>
                <a:schemeClr val="tx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6" name="Google Shape;723;p52">
            <a:extLst>
              <a:ext uri="{FF2B5EF4-FFF2-40B4-BE49-F238E27FC236}">
                <a16:creationId xmlns:a16="http://schemas.microsoft.com/office/drawing/2014/main" id="{948197BB-C1BD-83D0-1068-F1E38BFCB7D1}"/>
              </a:ext>
            </a:extLst>
          </p:cNvPr>
          <p:cNvSpPr txBox="1"/>
          <p:nvPr/>
        </p:nvSpPr>
        <p:spPr>
          <a:xfrm>
            <a:off x="5435725" y="1644860"/>
            <a:ext cx="1611900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tx1"/>
                </a:solidFill>
                <a:latin typeface="Bebas Neue"/>
                <a:ea typeface="Bebas Neue"/>
                <a:cs typeface="Bebas Neue"/>
                <a:sym typeface="Bebas Neue"/>
              </a:rPr>
              <a:t>Quantités</a:t>
            </a:r>
            <a:endParaRPr sz="2400" dirty="0">
              <a:solidFill>
                <a:schemeClr val="tx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0" name="Google Shape;728;p52">
            <a:extLst>
              <a:ext uri="{FF2B5EF4-FFF2-40B4-BE49-F238E27FC236}">
                <a16:creationId xmlns:a16="http://schemas.microsoft.com/office/drawing/2014/main" id="{48CA41AB-15E9-4ACC-5498-9B07C5496994}"/>
              </a:ext>
            </a:extLst>
          </p:cNvPr>
          <p:cNvSpPr txBox="1"/>
          <p:nvPr/>
        </p:nvSpPr>
        <p:spPr>
          <a:xfrm>
            <a:off x="5290797" y="3735653"/>
            <a:ext cx="2474400" cy="1200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200"/>
              </a:spcAft>
            </a:pPr>
            <a:r>
              <a:rPr lang="fr-FR" dirty="0"/>
              <a:t>Mesure de la rentabilité nette et étude des leviers d'influence entre prix, volume et profitabilité.</a:t>
            </a:r>
            <a:endParaRPr dirty="0">
              <a:solidFill>
                <a:schemeClr val="tx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1" name="Google Shape;729;p52">
            <a:extLst>
              <a:ext uri="{FF2B5EF4-FFF2-40B4-BE49-F238E27FC236}">
                <a16:creationId xmlns:a16="http://schemas.microsoft.com/office/drawing/2014/main" id="{B63E2E9A-ED5B-BEA6-817F-1D0CB7D75BBD}"/>
              </a:ext>
            </a:extLst>
          </p:cNvPr>
          <p:cNvSpPr txBox="1"/>
          <p:nvPr/>
        </p:nvSpPr>
        <p:spPr>
          <a:xfrm>
            <a:off x="5290797" y="3317238"/>
            <a:ext cx="3355116" cy="4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chemeClr val="tx1"/>
                </a:solidFill>
                <a:latin typeface="Bebas Neue"/>
                <a:ea typeface="Bebas Neue"/>
                <a:cs typeface="Bebas Neue"/>
                <a:sym typeface="Bebas Neue"/>
              </a:rPr>
              <a:t>TAUX DE MARGE ET CORRÉLATIONS</a:t>
            </a:r>
            <a:endParaRPr sz="2400" dirty="0">
              <a:solidFill>
                <a:schemeClr val="tx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" name="Google Shape;913;p39">
            <a:extLst>
              <a:ext uri="{FF2B5EF4-FFF2-40B4-BE49-F238E27FC236}">
                <a16:creationId xmlns:a16="http://schemas.microsoft.com/office/drawing/2014/main" id="{FF8209C0-A5C4-A49F-A55B-A306AF3D146A}"/>
              </a:ext>
            </a:extLst>
          </p:cNvPr>
          <p:cNvSpPr txBox="1">
            <a:spLocks/>
          </p:cNvSpPr>
          <p:nvPr/>
        </p:nvSpPr>
        <p:spPr>
          <a:xfrm>
            <a:off x="770379" y="1604036"/>
            <a:ext cx="589614" cy="650360"/>
          </a:xfrm>
          <a:prstGeom prst="rect">
            <a:avLst/>
          </a:pr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2A29"/>
              </a:buClr>
              <a:buSzPts val="6000"/>
              <a:buFont typeface="Calistoga"/>
              <a:buNone/>
              <a:tabLst/>
              <a:defRPr/>
            </a:pPr>
            <a:r>
              <a:rPr kumimoji="0" lang="es" sz="3600" b="0" i="0" u="none" strike="noStrike" kern="0" cap="none" spc="0" normalizeH="0" baseline="0" noProof="0" dirty="0">
                <a:ln>
                  <a:noFill/>
                </a:ln>
                <a:solidFill>
                  <a:srgbClr val="004D40"/>
                </a:solidFill>
                <a:effectLst/>
                <a:uLnTx/>
                <a:uFillTx/>
                <a:latin typeface="+mj-lt"/>
                <a:cs typeface="Calistoga"/>
                <a:sym typeface="Calistoga"/>
              </a:rPr>
              <a:t>1</a:t>
            </a:r>
          </a:p>
        </p:txBody>
      </p:sp>
      <p:sp>
        <p:nvSpPr>
          <p:cNvPr id="5" name="Google Shape;913;p39">
            <a:extLst>
              <a:ext uri="{FF2B5EF4-FFF2-40B4-BE49-F238E27FC236}">
                <a16:creationId xmlns:a16="http://schemas.microsoft.com/office/drawing/2014/main" id="{578FCCE5-0A19-7788-545E-D3E20F6A27E0}"/>
              </a:ext>
            </a:extLst>
          </p:cNvPr>
          <p:cNvSpPr txBox="1">
            <a:spLocks/>
          </p:cNvSpPr>
          <p:nvPr/>
        </p:nvSpPr>
        <p:spPr>
          <a:xfrm>
            <a:off x="4697342" y="1553415"/>
            <a:ext cx="589614" cy="650360"/>
          </a:xfrm>
          <a:prstGeom prst="rect">
            <a:avLst/>
          </a:pr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2A29"/>
              </a:buClr>
              <a:buSzPts val="6000"/>
              <a:buFont typeface="Calistoga"/>
              <a:buNone/>
              <a:tabLst/>
              <a:defRPr/>
            </a:pPr>
            <a:r>
              <a:rPr kumimoji="0" lang="es" sz="3600" b="0" i="0" u="none" strike="noStrike" kern="0" cap="none" spc="0" normalizeH="0" baseline="0" noProof="0" dirty="0">
                <a:ln>
                  <a:noFill/>
                </a:ln>
                <a:solidFill>
                  <a:srgbClr val="004D40"/>
                </a:solidFill>
                <a:effectLst/>
                <a:uLnTx/>
                <a:uFillTx/>
                <a:latin typeface="+mj-lt"/>
                <a:cs typeface="Calistoga"/>
                <a:sym typeface="Calistoga"/>
              </a:rPr>
              <a:t>2</a:t>
            </a:r>
          </a:p>
        </p:txBody>
      </p:sp>
      <p:sp>
        <p:nvSpPr>
          <p:cNvPr id="6" name="Google Shape;913;p39">
            <a:extLst>
              <a:ext uri="{FF2B5EF4-FFF2-40B4-BE49-F238E27FC236}">
                <a16:creationId xmlns:a16="http://schemas.microsoft.com/office/drawing/2014/main" id="{5026D735-D48A-3D62-7AA1-7B08F209A973}"/>
              </a:ext>
            </a:extLst>
          </p:cNvPr>
          <p:cNvSpPr txBox="1">
            <a:spLocks/>
          </p:cNvSpPr>
          <p:nvPr/>
        </p:nvSpPr>
        <p:spPr>
          <a:xfrm>
            <a:off x="770379" y="3255403"/>
            <a:ext cx="589614" cy="650360"/>
          </a:xfrm>
          <a:prstGeom prst="rect">
            <a:avLst/>
          </a:pr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2A29"/>
              </a:buClr>
              <a:buSzPts val="6000"/>
              <a:buFont typeface="Calistoga"/>
              <a:buNone/>
              <a:tabLst/>
              <a:defRPr/>
            </a:pPr>
            <a:r>
              <a:rPr kumimoji="0" lang="es" sz="3600" b="0" i="0" u="none" strike="noStrike" kern="0" cap="none" spc="0" normalizeH="0" baseline="0" noProof="0" dirty="0">
                <a:ln>
                  <a:noFill/>
                </a:ln>
                <a:solidFill>
                  <a:srgbClr val="004D40"/>
                </a:solidFill>
                <a:effectLst/>
                <a:uLnTx/>
                <a:uFillTx/>
                <a:latin typeface="+mj-lt"/>
                <a:cs typeface="Calistoga"/>
                <a:sym typeface="Calistoga"/>
              </a:rPr>
              <a:t>3</a:t>
            </a:r>
          </a:p>
        </p:txBody>
      </p:sp>
      <p:sp>
        <p:nvSpPr>
          <p:cNvPr id="7" name="Google Shape;913;p39">
            <a:extLst>
              <a:ext uri="{FF2B5EF4-FFF2-40B4-BE49-F238E27FC236}">
                <a16:creationId xmlns:a16="http://schemas.microsoft.com/office/drawing/2014/main" id="{26F9EB24-4798-70B3-55D9-AD868B8F94DA}"/>
              </a:ext>
            </a:extLst>
          </p:cNvPr>
          <p:cNvSpPr txBox="1">
            <a:spLocks/>
          </p:cNvSpPr>
          <p:nvPr/>
        </p:nvSpPr>
        <p:spPr>
          <a:xfrm>
            <a:off x="4697342" y="3255403"/>
            <a:ext cx="589614" cy="650360"/>
          </a:xfrm>
          <a:prstGeom prst="rect">
            <a:avLst/>
          </a:prstGeom>
          <a:noFill/>
          <a:ln w="9525" cap="flat" cmpd="sng">
            <a:solidFill>
              <a:srgbClr val="1919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stoga"/>
              <a:buNone/>
              <a:defRPr sz="60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2A29"/>
              </a:buClr>
              <a:buSzPts val="6000"/>
              <a:buFont typeface="Calistoga"/>
              <a:buNone/>
              <a:tabLst/>
              <a:defRPr/>
            </a:pPr>
            <a:r>
              <a:rPr kumimoji="0" lang="es" sz="3600" b="0" i="0" u="none" strike="noStrike" kern="0" cap="none" spc="0" normalizeH="0" baseline="0" noProof="0" dirty="0">
                <a:ln>
                  <a:noFill/>
                </a:ln>
                <a:solidFill>
                  <a:srgbClr val="004D40"/>
                </a:solidFill>
                <a:effectLst/>
                <a:uLnTx/>
                <a:uFillTx/>
                <a:latin typeface="+mj-lt"/>
                <a:cs typeface="Calistoga"/>
                <a:sym typeface="Calistoga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F6F667C2-2FD5-7764-B251-DDB8D815A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D7C60BB1-82AE-731A-E3B3-1468EE884373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F7C4F852-C20F-7C1B-1D19-DD26055D1804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CHIFFRE D’AFFAIRES TOTAL </a:t>
            </a:r>
            <a:endParaRPr lang="fr-FR"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F3E2F5FD-9CE1-8ECE-43B3-063A3FDE3E00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 12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A3ACEE7-3B5B-F0C6-00CA-975DCA630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57" y="1555364"/>
            <a:ext cx="4576082" cy="3433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376;p40">
            <a:extLst>
              <a:ext uri="{FF2B5EF4-FFF2-40B4-BE49-F238E27FC236}">
                <a16:creationId xmlns:a16="http://schemas.microsoft.com/office/drawing/2014/main" id="{5BD0E3FF-F075-3541-BAAD-EF84965AAB90}"/>
              </a:ext>
            </a:extLst>
          </p:cNvPr>
          <p:cNvSpPr txBox="1">
            <a:spLocks/>
          </p:cNvSpPr>
          <p:nvPr/>
        </p:nvSpPr>
        <p:spPr>
          <a:xfrm>
            <a:off x="5354658" y="2157684"/>
            <a:ext cx="3399885" cy="19213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+mj-lt"/>
              <a:buAutoNum type="arabicParenR"/>
            </a:pPr>
            <a:r>
              <a:rPr lang="fr-FR" sz="1800" b="1" dirty="0"/>
              <a:t>Top 20 des produits contributeurs au CA</a:t>
            </a:r>
          </a:p>
          <a:p>
            <a:pPr marL="342900" indent="-342900">
              <a:buFont typeface="+mj-lt"/>
              <a:buAutoNum type="arabicParenR"/>
            </a:pPr>
            <a:endParaRPr lang="fr-FR" sz="1800" b="1" dirty="0"/>
          </a:p>
          <a:p>
            <a:pPr marL="342900" indent="-342900">
              <a:buFont typeface="+mj-lt"/>
              <a:buAutoNum type="arabicParenR"/>
            </a:pPr>
            <a:r>
              <a:rPr lang="fr-FR" sz="1800" b="1" dirty="0"/>
              <a:t>Structure type : analyse Pareto ( 20/80 )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99555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5CAF0F6-A194-004B-88F5-4BC046631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A7C8AF3F-1B9E-C0BB-E208-8D7FA7F2C542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7F46E06A-CAE5-79ED-0EEE-17B7F436447B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C68B94BF-29E3-0575-FE5E-8CF3B10C9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4880354" y="-24218"/>
            <a:ext cx="84593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2380E3C-EC24-C1EC-3ADE-CEF229797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58" y="1727451"/>
            <a:ext cx="5221898" cy="28467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376;p40">
            <a:extLst>
              <a:ext uri="{FF2B5EF4-FFF2-40B4-BE49-F238E27FC236}">
                <a16:creationId xmlns:a16="http://schemas.microsoft.com/office/drawing/2014/main" id="{2190C88C-88AC-731A-DDFA-006CCF11DEB3}"/>
              </a:ext>
            </a:extLst>
          </p:cNvPr>
          <p:cNvSpPr txBox="1">
            <a:spLocks/>
          </p:cNvSpPr>
          <p:nvPr/>
        </p:nvSpPr>
        <p:spPr>
          <a:xfrm>
            <a:off x="5502314" y="2210124"/>
            <a:ext cx="3462528" cy="16547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+mj-lt"/>
              <a:buAutoNum type="arabicParenR"/>
            </a:pPr>
            <a:r>
              <a:rPr lang="fr-FR" sz="1600" b="1" dirty="0"/>
              <a:t>Top 20 des produits par volume de ventes (unités vendues)</a:t>
            </a:r>
          </a:p>
          <a:p>
            <a:pPr marL="457200" indent="-457200">
              <a:buFont typeface="+mj-lt"/>
              <a:buAutoNum type="arabicParenR"/>
            </a:pPr>
            <a:endParaRPr lang="fr-FR" sz="1600" b="1" dirty="0"/>
          </a:p>
          <a:p>
            <a:pPr marL="457200" indent="-457200">
              <a:buFont typeface="+mj-lt"/>
              <a:buAutoNum type="arabicParenR"/>
            </a:pPr>
            <a:r>
              <a:rPr lang="fr-FR" sz="1600" b="1" dirty="0"/>
              <a:t>Distinction volume ≠ valeur</a:t>
            </a:r>
          </a:p>
        </p:txBody>
      </p:sp>
      <p:sp>
        <p:nvSpPr>
          <p:cNvPr id="3" name="Google Shape;88;p7">
            <a:extLst>
              <a:ext uri="{FF2B5EF4-FFF2-40B4-BE49-F238E27FC236}">
                <a16:creationId xmlns:a16="http://schemas.microsoft.com/office/drawing/2014/main" id="{FBD7E193-E5C4-A733-BC47-726DA828CFEF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DES VENTES EN QUANTITÉ </a:t>
            </a:r>
          </a:p>
        </p:txBody>
      </p:sp>
    </p:spTree>
    <p:extLst>
      <p:ext uri="{BB962C8B-B14F-4D97-AF65-F5344CB8AC3E}">
        <p14:creationId xmlns:p14="http://schemas.microsoft.com/office/powerpoint/2010/main" val="3704511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AB749D30-EF73-2A53-D59A-DF3842E0D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3A806DD3-0466-B40D-8DE2-2364690B3F99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E28EB7ED-A6C3-2110-1719-A60215BFC742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4753647B-1C01-6A81-0FD6-CBBA9E1C23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405"/>
          <a:stretch>
            <a:fillRect/>
          </a:stretch>
        </p:blipFill>
        <p:spPr>
          <a:xfrm>
            <a:off x="283498" y="1585732"/>
            <a:ext cx="4147150" cy="32205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376;p40">
            <a:extLst>
              <a:ext uri="{FF2B5EF4-FFF2-40B4-BE49-F238E27FC236}">
                <a16:creationId xmlns:a16="http://schemas.microsoft.com/office/drawing/2014/main" id="{65EC3A34-A134-C8B5-1ED6-9A6B2596A568}"/>
              </a:ext>
            </a:extLst>
          </p:cNvPr>
          <p:cNvSpPr txBox="1">
            <a:spLocks/>
          </p:cNvSpPr>
          <p:nvPr/>
        </p:nvSpPr>
        <p:spPr>
          <a:xfrm>
            <a:off x="4430648" y="2252152"/>
            <a:ext cx="4591432" cy="1618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+mj-lt"/>
              <a:buAutoNum type="arabicParenR"/>
            </a:pPr>
            <a:r>
              <a:rPr lang="fr-FR" sz="2400" b="1" dirty="0"/>
              <a:t>Top 20 des produits avec le stock le plus important</a:t>
            </a:r>
          </a:p>
          <a:p>
            <a:pPr marL="457200" indent="-457200">
              <a:buFont typeface="+mj-lt"/>
              <a:buAutoNum type="arabicParenR"/>
            </a:pPr>
            <a:endParaRPr lang="fr-FR" sz="2400" b="1" dirty="0"/>
          </a:p>
          <a:p>
            <a:pPr marL="457200" indent="-457200">
              <a:buFont typeface="+mj-lt"/>
              <a:buAutoNum type="arabicParenR"/>
            </a:pPr>
            <a:r>
              <a:rPr lang="fr-FR" sz="2400" b="1" dirty="0"/>
              <a:t> analyse de la rotation des stocks </a:t>
            </a:r>
          </a:p>
        </p:txBody>
      </p:sp>
      <p:sp>
        <p:nvSpPr>
          <p:cNvPr id="6" name="Google Shape;88;p7">
            <a:extLst>
              <a:ext uri="{FF2B5EF4-FFF2-40B4-BE49-F238E27FC236}">
                <a16:creationId xmlns:a16="http://schemas.microsoft.com/office/drawing/2014/main" id="{11914068-24DD-4A0D-2DEA-7A0F3445A28D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ANALYSE DES STOCKS</a:t>
            </a:r>
          </a:p>
        </p:txBody>
      </p:sp>
    </p:spTree>
    <p:extLst>
      <p:ext uri="{BB962C8B-B14F-4D97-AF65-F5344CB8AC3E}">
        <p14:creationId xmlns:p14="http://schemas.microsoft.com/office/powerpoint/2010/main" val="3419359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96F79D31-EE5E-CA56-AB86-F5BE76B3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07FC9822-A842-4B55-9C60-9D9D10309750}"/>
              </a:ext>
            </a:extLst>
          </p:cNvPr>
          <p:cNvSpPr/>
          <p:nvPr/>
        </p:nvSpPr>
        <p:spPr>
          <a:xfrm>
            <a:off x="0" y="0"/>
            <a:ext cx="9144000" cy="126164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941533BD-CFC2-430F-4585-7FA76630A84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0B342A3B-A485-A875-A5A1-B9335B6B4032}"/>
              </a:ext>
            </a:extLst>
          </p:cNvPr>
          <p:cNvSpPr/>
          <p:nvPr/>
        </p:nvSpPr>
        <p:spPr>
          <a:xfrm>
            <a:off x="58577" y="1389634"/>
            <a:ext cx="4513423" cy="598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MARGE PAR TYPE DE PRODUITS</a:t>
            </a:r>
            <a:endParaRPr lang="en-US" sz="200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D2473DC5-3ACE-E20B-38E4-4A33E93F5619}"/>
              </a:ext>
            </a:extLst>
          </p:cNvPr>
          <p:cNvSpPr/>
          <p:nvPr/>
        </p:nvSpPr>
        <p:spPr>
          <a:xfrm>
            <a:off x="4809637" y="1365259"/>
            <a:ext cx="3588037" cy="5988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DE 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CORRÉLATION</a:t>
            </a:r>
            <a:endParaRPr lang="en-US" sz="1600" dirty="0"/>
          </a:p>
        </p:txBody>
      </p:sp>
      <p:pic>
        <p:nvPicPr>
          <p:cNvPr id="7" name="Image 6" descr="Une image contenant texte, capture d’écran, Police, Parallèle&#10;&#10;Le contenu généré par l’IA peut être incorrect.">
            <a:extLst>
              <a:ext uri="{FF2B5EF4-FFF2-40B4-BE49-F238E27FC236}">
                <a16:creationId xmlns:a16="http://schemas.microsoft.com/office/drawing/2014/main" id="{678A6569-E013-1E16-E97F-BE365C8F2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55" y="2103638"/>
            <a:ext cx="4273989" cy="2044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 8" descr="Une image contenant texte, capture d’écran, Rectangle, diagramme&#10;&#10;Le contenu généré par l’IA peut être incorrect.">
            <a:extLst>
              <a:ext uri="{FF2B5EF4-FFF2-40B4-BE49-F238E27FC236}">
                <a16:creationId xmlns:a16="http://schemas.microsoft.com/office/drawing/2014/main" id="{12B8C0E0-FD68-07D0-03A7-92C49EBE6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439" y="2046329"/>
            <a:ext cx="3828206" cy="21021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88;p7">
            <a:extLst>
              <a:ext uri="{FF2B5EF4-FFF2-40B4-BE49-F238E27FC236}">
                <a16:creationId xmlns:a16="http://schemas.microsoft.com/office/drawing/2014/main" id="{C0A692C8-D319-180C-14AE-39746D8BEB50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RENTABILITÉ ET SYNERGIES DES INDICATEURS CLÉS</a:t>
            </a:r>
          </a:p>
        </p:txBody>
      </p:sp>
      <p:sp>
        <p:nvSpPr>
          <p:cNvPr id="8" name="Google Shape;376;p40">
            <a:extLst>
              <a:ext uri="{FF2B5EF4-FFF2-40B4-BE49-F238E27FC236}">
                <a16:creationId xmlns:a16="http://schemas.microsoft.com/office/drawing/2014/main" id="{155E63AA-51D9-9E39-AEC8-0879BF0A64BA}"/>
              </a:ext>
            </a:extLst>
          </p:cNvPr>
          <p:cNvSpPr txBox="1">
            <a:spLocks/>
          </p:cNvSpPr>
          <p:nvPr/>
        </p:nvSpPr>
        <p:spPr>
          <a:xfrm>
            <a:off x="383355" y="4171643"/>
            <a:ext cx="4273989" cy="8846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+mj-lt"/>
              <a:buAutoNum type="arabicParenR"/>
            </a:pPr>
            <a:r>
              <a:rPr lang="fr-FR" sz="1200" b="1" dirty="0">
                <a:solidFill>
                  <a:srgbClr val="FF0000"/>
                </a:solidFill>
              </a:rPr>
              <a:t>Performances</a:t>
            </a:r>
            <a:r>
              <a:rPr lang="fr-FR" sz="1200" b="1" dirty="0"/>
              <a:t> : Domination du Cognac (&gt;44%) face aux vins de maison (marges serrées).</a:t>
            </a:r>
          </a:p>
          <a:p>
            <a:pPr marL="457200" indent="-457200">
              <a:buFont typeface="+mj-lt"/>
              <a:buAutoNum type="arabicParenR"/>
            </a:pPr>
            <a:r>
              <a:rPr lang="fr-FR" sz="1200" b="1" dirty="0">
                <a:solidFill>
                  <a:srgbClr val="FF0000"/>
                </a:solidFill>
              </a:rPr>
              <a:t>Stratégie</a:t>
            </a:r>
            <a:r>
              <a:rPr lang="fr-FR" sz="1200" b="1" dirty="0"/>
              <a:t> : Prioriser le segment "Luxe" pour booster le profit global.</a:t>
            </a:r>
          </a:p>
        </p:txBody>
      </p:sp>
      <p:sp>
        <p:nvSpPr>
          <p:cNvPr id="11" name="Google Shape;376;p40">
            <a:extLst>
              <a:ext uri="{FF2B5EF4-FFF2-40B4-BE49-F238E27FC236}">
                <a16:creationId xmlns:a16="http://schemas.microsoft.com/office/drawing/2014/main" id="{DB0CEBB7-5CD9-2503-313B-E489F6B9C3D1}"/>
              </a:ext>
            </a:extLst>
          </p:cNvPr>
          <p:cNvSpPr txBox="1">
            <a:spLocks/>
          </p:cNvSpPr>
          <p:nvPr/>
        </p:nvSpPr>
        <p:spPr>
          <a:xfrm>
            <a:off x="4809637" y="4148493"/>
            <a:ext cx="4056571" cy="8846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+mj-lt"/>
              <a:buAutoNum type="arabicParenR"/>
            </a:pPr>
            <a:r>
              <a:rPr lang="fr-FR" sz="1200" b="1" dirty="0">
                <a:solidFill>
                  <a:srgbClr val="FF0000"/>
                </a:solidFill>
              </a:rPr>
              <a:t>Prix</a:t>
            </a:r>
            <a:r>
              <a:rPr lang="fr-FR" sz="1200" b="1" dirty="0">
                <a:solidFill>
                  <a:schemeClr val="tx1"/>
                </a:solidFill>
              </a:rPr>
              <a:t> : Corrélation forte ($0,97$) entre achat et vente (politique de prix fixe).</a:t>
            </a:r>
          </a:p>
          <a:p>
            <a:pPr marL="457200" indent="-457200">
              <a:buFont typeface="+mj-lt"/>
              <a:buAutoNum type="arabicParenR"/>
            </a:pPr>
            <a:r>
              <a:rPr lang="fr-FR" sz="1200" b="1" dirty="0">
                <a:solidFill>
                  <a:srgbClr val="FF0000"/>
                </a:solidFill>
              </a:rPr>
              <a:t>Stocks</a:t>
            </a:r>
            <a:r>
              <a:rPr lang="fr-FR" sz="1200" b="1" dirty="0">
                <a:solidFill>
                  <a:schemeClr val="tx1"/>
                </a:solidFill>
              </a:rPr>
              <a:t> : Déconnexion ventes/stocks ($-0,10$) signalant des risques de surstockage.</a:t>
            </a:r>
          </a:p>
        </p:txBody>
      </p:sp>
    </p:spTree>
    <p:extLst>
      <p:ext uri="{BB962C8B-B14F-4D97-AF65-F5344CB8AC3E}">
        <p14:creationId xmlns:p14="http://schemas.microsoft.com/office/powerpoint/2010/main" val="781219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8128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4D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14946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62759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7389AF0C-CC16-BF37-F6F6-F442B9729793}"/>
              </a:ext>
            </a:extLst>
          </p:cNvPr>
          <p:cNvSpPr/>
          <p:nvPr/>
        </p:nvSpPr>
        <p:spPr>
          <a:xfrm>
            <a:off x="858949" y="957472"/>
            <a:ext cx="768096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F6AAD563-E947-5DA3-8740-E0AF0C93AF71}"/>
              </a:ext>
            </a:extLst>
          </p:cNvPr>
          <p:cNvSpPr/>
          <p:nvPr/>
        </p:nvSpPr>
        <p:spPr>
          <a:xfrm>
            <a:off x="1041829" y="1094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</a:t>
            </a:r>
            <a:endParaRPr lang="en-US" sz="32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159EA341-E195-1E3B-22E7-CDABFFACF8AF}"/>
              </a:ext>
            </a:extLst>
          </p:cNvPr>
          <p:cNvSpPr/>
          <p:nvPr/>
        </p:nvSpPr>
        <p:spPr>
          <a:xfrm>
            <a:off x="1773349" y="1045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 LA GESTION DES STOCKS</a:t>
            </a:r>
            <a:endParaRPr lang="en-US" sz="16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715BCE16-F13D-9AB4-6B32-CED8A8888249}"/>
              </a:ext>
            </a:extLst>
          </p:cNvPr>
          <p:cNvSpPr/>
          <p:nvPr/>
        </p:nvSpPr>
        <p:spPr>
          <a:xfrm>
            <a:off x="1773349" y="1420460"/>
            <a:ext cx="65117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Font typeface="+mj-lt"/>
              <a:buAutoNum type="alphaLcParenR"/>
            </a:pPr>
            <a:r>
              <a:rPr lang="fr-FR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en place un suivi plus fin de la rotation des stocks</a:t>
            </a:r>
          </a:p>
          <a:p>
            <a:pPr marL="228600" indent="-228600">
              <a:buFont typeface="+mj-lt"/>
              <a:buAutoNum type="alphaLcParenR"/>
            </a:pPr>
            <a:r>
              <a:rPr lang="fr-FR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Ajuster les niveaux de stock en fonction des ventes observées, afin de réduire l’immobilisation et les risques de rupture</a:t>
            </a:r>
            <a:endParaRPr lang="en-US" sz="11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0B39CBA-57BB-F8F8-7514-CDBC28CC2C0A}"/>
              </a:ext>
            </a:extLst>
          </p:cNvPr>
          <p:cNvSpPr/>
          <p:nvPr/>
        </p:nvSpPr>
        <p:spPr>
          <a:xfrm>
            <a:off x="858949" y="2237632"/>
            <a:ext cx="768096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F245670-46A7-BF63-87DB-8EB2A3962FFB}"/>
              </a:ext>
            </a:extLst>
          </p:cNvPr>
          <p:cNvSpPr/>
          <p:nvPr/>
        </p:nvSpPr>
        <p:spPr>
          <a:xfrm>
            <a:off x="1041829" y="2374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</a:t>
            </a:r>
            <a:endParaRPr lang="en-US" sz="3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31A01705-D792-86A1-73DB-9EF336FC088E}"/>
              </a:ext>
            </a:extLst>
          </p:cNvPr>
          <p:cNvSpPr/>
          <p:nvPr/>
        </p:nvSpPr>
        <p:spPr>
          <a:xfrm>
            <a:off x="1773349" y="23747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 DE PRICING DIFFÉRENCIÉE</a:t>
            </a:r>
            <a:endParaRPr lang="en-US" sz="16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74127180-DD01-2696-0BAE-C5BC88A713B6}"/>
              </a:ext>
            </a:extLst>
          </p:cNvPr>
          <p:cNvSpPr/>
          <p:nvPr/>
        </p:nvSpPr>
        <p:spPr>
          <a:xfrm>
            <a:off x="858949" y="3517792"/>
            <a:ext cx="768096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17793ADB-1A6B-379E-28D8-B261BE695320}"/>
              </a:ext>
            </a:extLst>
          </p:cNvPr>
          <p:cNvSpPr/>
          <p:nvPr/>
        </p:nvSpPr>
        <p:spPr>
          <a:xfrm>
            <a:off x="1041829" y="3654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</a:t>
            </a:r>
            <a:endParaRPr lang="en-US" sz="32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1E2C318B-83AB-2D93-AF6C-863E265FC5CA}"/>
              </a:ext>
            </a:extLst>
          </p:cNvPr>
          <p:cNvSpPr/>
          <p:nvPr/>
        </p:nvSpPr>
        <p:spPr>
          <a:xfrm>
            <a:off x="1773349" y="36549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DÉVELOPPER LES CATÉGORIES RENTABLES</a:t>
            </a:r>
            <a:endParaRPr lang="en-US" sz="1600" dirty="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4D4747FD-040C-9D49-AE9C-97A3E41366CA}"/>
              </a:ext>
            </a:extLst>
          </p:cNvPr>
          <p:cNvSpPr/>
          <p:nvPr/>
        </p:nvSpPr>
        <p:spPr>
          <a:xfrm>
            <a:off x="858948" y="4694357"/>
            <a:ext cx="7680960" cy="39126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 dirty="0">
              <a:solidFill>
                <a:srgbClr val="004D40"/>
              </a:solidFill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870D9985-8F2D-00BB-BEF2-A8E0358608A3}"/>
              </a:ext>
            </a:extLst>
          </p:cNvPr>
          <p:cNvSpPr/>
          <p:nvPr/>
        </p:nvSpPr>
        <p:spPr>
          <a:xfrm>
            <a:off x="807875" y="4741329"/>
            <a:ext cx="7488751" cy="3364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Impact : </a:t>
            </a:r>
            <a:r>
              <a:rPr lang="fr-FR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Amélioration de la rentabilité globale, meilleure allocation des stocks et décisions commerciales plus pilotées par la donnée.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DAA80865-211F-9B03-2043-4A8782763F15}"/>
              </a:ext>
            </a:extLst>
          </p:cNvPr>
          <p:cNvSpPr/>
          <p:nvPr/>
        </p:nvSpPr>
        <p:spPr>
          <a:xfrm>
            <a:off x="1773349" y="2733332"/>
            <a:ext cx="65117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Font typeface="+mj-lt"/>
              <a:buAutoNum type="alphaLcParenR"/>
            </a:pPr>
            <a:r>
              <a:rPr lang="fr-FR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Exploiter la corrélation négative entre prix et ventes pour tester des ajustements ciblés</a:t>
            </a:r>
          </a:p>
          <a:p>
            <a:pPr marL="228600" indent="-228600">
              <a:buFont typeface="+mj-lt"/>
              <a:buAutoNum type="alphaLcParenR"/>
            </a:pPr>
            <a:r>
              <a:rPr lang="fr-FR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Différencier la stratégie entre produits premium (faible sensibilité au prix) et produits plus sensibles au volume</a:t>
            </a:r>
            <a:endParaRPr lang="en-US" sz="11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AD68D601-DE58-8F33-5569-D8DB1B82AB73}"/>
              </a:ext>
            </a:extLst>
          </p:cNvPr>
          <p:cNvSpPr/>
          <p:nvPr/>
        </p:nvSpPr>
        <p:spPr>
          <a:xfrm>
            <a:off x="1773349" y="3984136"/>
            <a:ext cx="651170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Font typeface="+mj-lt"/>
              <a:buAutoNum type="alphaLcParenR"/>
            </a:pPr>
            <a:r>
              <a:rPr lang="fr-FR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Prioriser les produits et catégories à taux de marge élevé</a:t>
            </a:r>
          </a:p>
          <a:p>
            <a:pPr marL="228600" indent="-228600">
              <a:buFont typeface="+mj-lt"/>
              <a:buAutoNum type="alphaLcParenR"/>
            </a:pPr>
            <a:r>
              <a:rPr lang="fr-FR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produits à marge faible ou négative pour revoir les coûts, le </a:t>
            </a:r>
            <a:r>
              <a:rPr lang="fr-FR" sz="1100" dirty="0" err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r>
              <a:rPr lang="fr-FR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 la stratégie commerciale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9B361A70-B910-6396-2160-AFDF7F6D5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>
            <a:extLst>
              <a:ext uri="{FF2B5EF4-FFF2-40B4-BE49-F238E27FC236}">
                <a16:creationId xmlns:a16="http://schemas.microsoft.com/office/drawing/2014/main" id="{E5279CD7-E45F-AE4D-1D7C-93127187C6CE}"/>
              </a:ext>
            </a:extLst>
          </p:cNvPr>
          <p:cNvSpPr/>
          <p:nvPr/>
        </p:nvSpPr>
        <p:spPr>
          <a:xfrm>
            <a:off x="0" y="0"/>
            <a:ext cx="9144000" cy="106666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>
            <a:extLst>
              <a:ext uri="{FF2B5EF4-FFF2-40B4-BE49-F238E27FC236}">
                <a16:creationId xmlns:a16="http://schemas.microsoft.com/office/drawing/2014/main" id="{BA55F0A4-56DB-F229-98FD-8A40F5B476C1}"/>
              </a:ext>
            </a:extLst>
          </p:cNvPr>
          <p:cNvSpPr txBox="1"/>
          <p:nvPr/>
        </p:nvSpPr>
        <p:spPr>
          <a:xfrm>
            <a:off x="895525" y="24581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 lang="fr-FR" sz="2800" dirty="0"/>
          </a:p>
        </p:txBody>
      </p:sp>
      <p:sp>
        <p:nvSpPr>
          <p:cNvPr id="82" name="Google Shape;82;p6">
            <a:extLst>
              <a:ext uri="{FF2B5EF4-FFF2-40B4-BE49-F238E27FC236}">
                <a16:creationId xmlns:a16="http://schemas.microsoft.com/office/drawing/2014/main" id="{E4150020-7B67-A2D1-6F5E-1EB03BC060E9}"/>
              </a:ext>
            </a:extLst>
          </p:cNvPr>
          <p:cNvSpPr/>
          <p:nvPr/>
        </p:nvSpPr>
        <p:spPr>
          <a:xfrm>
            <a:off x="1012175" y="83079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CD9B21-1004-3382-979B-9B465CD984B9}"/>
              </a:ext>
            </a:extLst>
          </p:cNvPr>
          <p:cNvSpPr/>
          <p:nvPr/>
        </p:nvSpPr>
        <p:spPr>
          <a:xfrm>
            <a:off x="154871" y="1118261"/>
            <a:ext cx="3931920" cy="355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POSITIFS ( NETTOYAGE )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4F97219-499A-D277-21DC-45F6174C9BB7}"/>
              </a:ext>
            </a:extLst>
          </p:cNvPr>
          <p:cNvSpPr/>
          <p:nvPr/>
        </p:nvSpPr>
        <p:spPr>
          <a:xfrm>
            <a:off x="276791" y="1526280"/>
            <a:ext cx="3657600" cy="1792659"/>
          </a:xfrm>
          <a:prstGeom prst="rect">
            <a:avLst/>
          </a:prstGeom>
          <a:solidFill>
            <a:srgbClr val="FFF9E6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180CE68-05D5-F6FC-45E3-9F834E8F77E0}"/>
              </a:ext>
            </a:extLst>
          </p:cNvPr>
          <p:cNvSpPr/>
          <p:nvPr/>
        </p:nvSpPr>
        <p:spPr>
          <a:xfrm>
            <a:off x="4815840" y="1107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PRINCIPALES DIFFICULTES</a:t>
            </a:r>
            <a:endParaRPr lang="en-US" sz="1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F5367DE-CDEA-1598-EB67-E36891C0470E}"/>
              </a:ext>
            </a:extLst>
          </p:cNvPr>
          <p:cNvSpPr/>
          <p:nvPr/>
        </p:nvSpPr>
        <p:spPr>
          <a:xfrm>
            <a:off x="4907280" y="1535091"/>
            <a:ext cx="3749040" cy="1753899"/>
          </a:xfrm>
          <a:prstGeom prst="rect">
            <a:avLst/>
          </a:prstGeom>
          <a:solidFill>
            <a:srgbClr val="E8F5E9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0144666-57FA-6948-91E3-68C8AD258B3C}"/>
              </a:ext>
            </a:extLst>
          </p:cNvPr>
          <p:cNvSpPr/>
          <p:nvPr/>
        </p:nvSpPr>
        <p:spPr>
          <a:xfrm>
            <a:off x="1584960" y="3787369"/>
            <a:ext cx="5821680" cy="1110322"/>
          </a:xfrm>
          <a:prstGeom prst="rect">
            <a:avLst/>
          </a:prstGeom>
          <a:solidFill>
            <a:srgbClr val="FFE6E6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BA9CDDF-A754-EAF5-2F2F-CB09E9C8A9AE}"/>
              </a:ext>
            </a:extLst>
          </p:cNvPr>
          <p:cNvSpPr/>
          <p:nvPr/>
        </p:nvSpPr>
        <p:spPr>
          <a:xfrm>
            <a:off x="2712720" y="3380430"/>
            <a:ext cx="2955324" cy="458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 DE PROGRESSION </a:t>
            </a:r>
            <a:endParaRPr lang="en-US" sz="18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BD80401-BBB0-945C-1DA8-7EE95E05C99F}"/>
              </a:ext>
            </a:extLst>
          </p:cNvPr>
          <p:cNvSpPr txBox="1"/>
          <p:nvPr/>
        </p:nvSpPr>
        <p:spPr>
          <a:xfrm>
            <a:off x="344135" y="1686272"/>
            <a:ext cx="352291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Fusion de plusieurs sources de données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Traitement des </a:t>
            </a:r>
            <a:r>
              <a:rPr lang="fr-FR" dirty="0" err="1"/>
              <a:t>outliers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Calculs métier fiables (HT / TTC, taux de marge)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Visualisations claires et professionnelles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6EA09B4-4829-239E-A55F-79B646270215}"/>
              </a:ext>
            </a:extLst>
          </p:cNvPr>
          <p:cNvSpPr txBox="1"/>
          <p:nvPr/>
        </p:nvSpPr>
        <p:spPr>
          <a:xfrm>
            <a:off x="2519027" y="3891402"/>
            <a:ext cx="41059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Automatisation des traitements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Tests statistiques plus approfondis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Modèles prédictifs pour les ventes et les stocks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AB8336A-C52F-4068-184D-83880DFF5450}"/>
              </a:ext>
            </a:extLst>
          </p:cNvPr>
          <p:cNvSpPr txBox="1"/>
          <p:nvPr/>
        </p:nvSpPr>
        <p:spPr>
          <a:xfrm>
            <a:off x="5040012" y="1750320"/>
            <a:ext cx="34835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Gestion des identifiants multiples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Traitement des valeurs manquantes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Correction du calcul du taux de marge (TTC → HT)</a:t>
            </a:r>
          </a:p>
        </p:txBody>
      </p:sp>
    </p:spTree>
    <p:extLst>
      <p:ext uri="{BB962C8B-B14F-4D97-AF65-F5344CB8AC3E}">
        <p14:creationId xmlns:p14="http://schemas.microsoft.com/office/powerpoint/2010/main" val="416745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BD64AFC-C19F-7589-E181-9F5E49599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>
            <a:extLst>
              <a:ext uri="{FF2B5EF4-FFF2-40B4-BE49-F238E27FC236}">
                <a16:creationId xmlns:a16="http://schemas.microsoft.com/office/drawing/2014/main" id="{32ED414F-2565-A439-B23A-5C04159B962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1;p6">
            <a:extLst>
              <a:ext uri="{FF2B5EF4-FFF2-40B4-BE49-F238E27FC236}">
                <a16:creationId xmlns:a16="http://schemas.microsoft.com/office/drawing/2014/main" id="{92D0B3B0-2A79-16A1-C867-6383DFA398E9}"/>
              </a:ext>
            </a:extLst>
          </p:cNvPr>
          <p:cNvSpPr txBox="1"/>
          <p:nvPr/>
        </p:nvSpPr>
        <p:spPr>
          <a:xfrm>
            <a:off x="2724324" y="569901"/>
            <a:ext cx="5609447" cy="144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500"/>
            </a:pPr>
            <a:r>
              <a:rPr lang="fr-FR" sz="6000" spc="6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MERCI </a:t>
            </a:r>
            <a:endParaRPr lang="fr-FR" sz="6000" spc="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0A146C3-2446-95F4-EAEF-A24541657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604" y="1814966"/>
            <a:ext cx="5879939" cy="30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3189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1244</Words>
  <Application>Microsoft Office PowerPoint</Application>
  <PresentationFormat>Affichage à l'écran (16:9)</PresentationFormat>
  <Paragraphs>168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Lato</vt:lpstr>
      <vt:lpstr>Courier New</vt:lpstr>
      <vt:lpstr>Arial</vt:lpstr>
      <vt:lpstr>Work Sans</vt:lpstr>
      <vt:lpstr>Montserrat</vt:lpstr>
      <vt:lpstr>Calistoga</vt:lpstr>
      <vt:lpstr>Bebas Neue</vt:lpstr>
      <vt:lpstr>Simple Light</vt:lpstr>
      <vt:lpstr>Présentation PowerPoint</vt:lpstr>
      <vt:lpstr>Présentation PowerPoint</vt:lpstr>
      <vt:lpstr>Présentation PowerPoint</vt:lpstr>
      <vt:lpstr>Présentation PowerPoint</vt:lpstr>
      <vt:lpstr>CHOIX DES ATTRIBUTS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bassecou toure</dc:creator>
  <cp:lastModifiedBy>bassecou toure</cp:lastModifiedBy>
  <cp:revision>3</cp:revision>
  <dcterms:modified xsi:type="dcterms:W3CDTF">2026-02-05T10:21:57Z</dcterms:modified>
</cp:coreProperties>
</file>